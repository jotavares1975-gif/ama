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386c554fa44354" /><Relationship Type="http://schemas.openxmlformats.org/officeDocument/2006/relationships/extended-properties" Target="/docProps/app.xml" Id="Re5641cd2ca604017" /><Relationship Type="http://schemas.openxmlformats.org/officeDocument/2006/relationships/officeDocument" Target="/ppt/presentation.xml" Id="R8d25d12d1f9645e2" /></Relationships>
</file>

<file path=ppt/presentation.xml><?xml version="1.0" encoding="utf-8"?>
<p:presentation xmlns:p="http://schemas.openxmlformats.org/presentationml/2006/main">
  <p:sldMasterIdLst>
    <p:sldMasterId xmlns:r="http://schemas.openxmlformats.org/officeDocument/2006/relationships" id="2147483648" r:id="Re378fbb3ca7d4be8"/>
  </p:sldMasterIdLst>
  <p:notesMasterIdLst>
    <p:notesMasterId xmlns:r="http://schemas.openxmlformats.org/officeDocument/2006/relationships" r:id="R3f7e6af6471d41d5"/>
  </p:notesMasterIdLst>
  <p:sldIdLst>
    <p:sldId xmlns:r="http://schemas.openxmlformats.org/officeDocument/2006/relationships" id="256" r:id="R3c7b22535e134ae6"/>
    <p:sldId xmlns:r="http://schemas.openxmlformats.org/officeDocument/2006/relationships" id="257" r:id="Re87f5c5229ba4c1a"/>
    <p:sldId xmlns:r="http://schemas.openxmlformats.org/officeDocument/2006/relationships" id="258" r:id="Rae75ddf494d044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ef4b34113be40dd" /><Relationship Type="http://schemas.openxmlformats.org/officeDocument/2006/relationships/slideMaster" Target="/ppt/slideMasters/slideMaster1.xml" Id="Re378fbb3ca7d4be8" /><Relationship Type="http://schemas.openxmlformats.org/officeDocument/2006/relationships/notesMaster" Target="/ppt/notesMasters/notesMaster1.xml" Id="R3f7e6af6471d41d5" /><Relationship Type="http://schemas.openxmlformats.org/officeDocument/2006/relationships/presProps" Target="/ppt/presProps.xml" Id="Rd85cbb705552419f" /><Relationship Type="http://schemas.openxmlformats.org/officeDocument/2006/relationships/tableStyles" Target="/ppt/tableStyles.xml" Id="R7f525a9874734cdf" /><Relationship Type="http://schemas.openxmlformats.org/officeDocument/2006/relationships/slide" Target="/ppt/slides/slide1.xml" Id="R3c7b22535e134ae6" /><Relationship Type="http://schemas.openxmlformats.org/officeDocument/2006/relationships/slide" Target="/ppt/slides/slide2.xml" Id="Re87f5c5229ba4c1a" /><Relationship Type="http://schemas.openxmlformats.org/officeDocument/2006/relationships/slide" Target="/ppt/slides/slide3.xml" Id="Rae75ddf494d044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b41bda6c2a4b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cf6377313f24b25" /><Relationship Type="http://schemas.openxmlformats.org/officeDocument/2006/relationships/notesMaster" Target="/ppt/notesMasters/notesMaster1.xml" Id="R71d51b37b825455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9e8b4572d2a489e" /><Relationship Type="http://schemas.openxmlformats.org/officeDocument/2006/relationships/notesMaster" Target="/ppt/notesMasters/notesMaster1.xml" Id="Rd66c1f0de4c547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cc38f83f624349" /><Relationship Type="http://schemas.openxmlformats.org/officeDocument/2006/relationships/notesMaster" Target="/ppt/notesMasters/notesMaster1.xml" Id="R5d79eab753b543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Medicare_AMA_Perguntas_Contact_Center_PT_EN_V4.xlsx, supplied completed test record. Assessment date: 20 October 2026. Assessment of supplied recorded responses, not a new execution in AMA. Numeric values are preserved. Portuguese verbal replies are translated to English. Exact counts and dates, stated display tolerance for time and percentages, semantic equivalence for valid labels and explanations. Q21 unit and Q42 recorded precision require original-output confirmation. Stress outcomes use the workbook’s declared context; conversation setup and deployment versions are not evidenced. Supporting deliverable: Medicare_AMA_Test_Evidence_2026-10-20.xlsx. Questions and validation criteria on the analysis slides are summaries; the evidence workbook retains their full English wording. This report does not rerun queries or change the supplied benchmark. INB means [SAC] INB MEDICARE; ENG means [SAC] - 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Medicare_AMA_Perguntas_Contact_Center_PT_EN_V4.xlsx, supplied completed test record. Assessment date: 20 October 2026. Assessment of supplied recorded responses, not a new execution in AMA. Numeric values are preserved. Portuguese verbal replies are translated to English. Exact counts and dates, stated display tolerance for time and percentages, semantic equivalence for valid labels and explanations. Q21 unit and Q42 recorded precision require original-output confirmation. Stress outcomes use the workbook’s declared context; conversation setup and deployment versions are not evidenced. Supporting deliverable: Medicare_AMA_Test_Evidence_2026-10-20.xlsx. Questions and validation criteria on the analysis slides are summaries; the evidence workbook retains their full English wording. This report does not rerun queries or change the supplied benchmark. INB means [SAC] INB MEDICARE; ENG means [SAC] - ENG. Latest available result = second response where present, otherwise first. Run 2 has no recorded response for Q55, Q56, Q65 and Q66. These are not treated as failures. Four cases conform on repeat: Q53, Q60, Q61, Q63. Counts and dates are exact; time and percentage comparisons use the stated display tolerance. Q21 and Q42 are recording reviews rather than confirmed arithmetic defects. Q41 sign mismatch and Q54 three-session difference remain in both recorded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Medicare_AMA_Perguntas_Contact_Center_PT_EN_V4.xlsx, supplied completed test record. Assessment date: 20 October 2026. Assessment of supplied recorded responses, not a new execution in AMA. Numeric values are preserved. Portuguese verbal replies are translated to English. Exact counts and dates, stated display tolerance for time and percentages, semantic equivalence for valid labels and explanations. Q21 unit and Q42 recorded precision require original-output confirmation. Stress outcomes use the workbook’s declared context; conversation setup and deployment versions are not evidenced. Supporting deliverable: Medicare_AMA_Test_Evidence_2026-10-20.xlsx. Questions and validation criteria on the analysis slides are summaries; the evidence workbook retains their full English wording. This report does not rerun queries or change the supplied benchmark. INB means [SAC] INB MEDICARE; ENG means [SAC] - ENG. Conformant means correct outcome or a clearly labelled, usable semantic alternative. Partially conformant means useful, safe progress with an unresolved essential scope or definition. Non-conformant means a wrong result, silently changed scope, dropped established rule, unsupported refusal or contradictory decision. S05 gives both gross and adjusted definitions and is accepted. S23 safely identifies incompatible inbound/callback scope and offers separate outputs subject to confirmation. S11 is non-conformant against the declared context; actual session setup must be verified before assigning causality. All 24 cases, full translated responses and assessment rationales are retained in the Stress tests sheet.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df65abf0d548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ea3512844c47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c70bd1ccd74a0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d1098e2cee24aa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3d06da72aa140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1df0c3c6d14e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373DCE-9189-447E-8AF1-171ACEB4F9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7CEF883-B6D6-4A9D-8FD8-BD62241FE05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2E2DE16-F3D5-44C3-8FF2-125421D7DE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DAC09-CF29-4C24-B94D-2495360426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0037D53-881F-4B02-B544-B18CC6B9D2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649CB0-1F04-45FA-9B6F-27688D1454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3B75BC-04FD-4331-B32D-01527D80FC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A4ADC2-642A-4C43-953E-B138A789C6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B97A46-9A55-494B-972E-734D7AD8CB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C12945-313F-4CD5-AAAE-851F62150B8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b65b545026e4148" /><Relationship Type="http://schemas.openxmlformats.org/officeDocument/2006/relationships/slideLayout" Target="/ppt/slideLayouts/slideLayout1.xml" Id="R115aca33383f41bf" /><Relationship Type="http://schemas.openxmlformats.org/officeDocument/2006/relationships/slideLayout" Target="/ppt/slideLayouts/slideLayout2.xml" Id="R63f8b87f43f44fad" /><Relationship Type="http://schemas.openxmlformats.org/officeDocument/2006/relationships/slideLayout" Target="/ppt/slideLayouts/slideLayout3.xml" Id="Rf9535d35b39a4c8b" /><Relationship Type="http://schemas.openxmlformats.org/officeDocument/2006/relationships/slideLayout" Target="/ppt/slideLayouts/slideLayout4.xml" Id="R6812a638c9b547c2" /><Relationship Type="http://schemas.openxmlformats.org/officeDocument/2006/relationships/slideLayout" Target="/ppt/slideLayouts/slideLayout5.xml" Id="R154c00ed1c5d4863" /><Relationship Type="http://schemas.openxmlformats.org/officeDocument/2006/relationships/slideLayout" Target="/ppt/slideLayouts/slideLayout6.xml" Id="R5b172332a88249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15aca33383f41bf"/>
    <p:sldLayoutId xmlns:r="http://schemas.openxmlformats.org/officeDocument/2006/relationships" id="2147483650" r:id="R63f8b87f43f44fad"/>
    <p:sldLayoutId xmlns:r="http://schemas.openxmlformats.org/officeDocument/2006/relationships" id="2147483651" r:id="Rf9535d35b39a4c8b"/>
    <p:sldLayoutId xmlns:r="http://schemas.openxmlformats.org/officeDocument/2006/relationships" id="2147483652" r:id="R6812a638c9b547c2"/>
    <p:sldLayoutId xmlns:r="http://schemas.openxmlformats.org/officeDocument/2006/relationships" id="2147483653" r:id="R154c00ed1c5d4863"/>
    <p:sldLayoutId xmlns:r="http://schemas.openxmlformats.org/officeDocument/2006/relationships" id="2147483654" r:id="R5b172332a88249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ededdf791a4c9f" /><Relationship Type="http://schemas.openxmlformats.org/officeDocument/2006/relationships/notesSlide" Target="/ppt/notesSlides/notesSlide1.xml" Id="R31ff7a4e4d4e4a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cff198085454743" /><Relationship Type="http://schemas.openxmlformats.org/officeDocument/2006/relationships/notesSlide" Target="/ppt/notesSlides/notesSlide2.xml" Id="Rd65ab5706f6b47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ecc1fc74d2c4ea5" /><Relationship Type="http://schemas.openxmlformats.org/officeDocument/2006/relationships/notesSlide" Target="/ppt/notesSlides/notesSlide3.xml" Id="Re67e6bd2378449c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7F87D2C-B951-4693-8EAF-19F8FB1EAEE5}"/>
              </a:ext>
            </a:extLst>
          </p:cNvPr>
          <p:cNvSpPr>
            <a:spLocks xmlns:a="http://schemas.openxmlformats.org/drawingml/2006/main" noGrp="1"/>
          </p:cNvSpPr>
          <p:nvPr/>
        </p:nvSpPr>
        <p:spPr>
          <a:xfrm xmlns:a="http://schemas.openxmlformats.org/drawingml/2006/main">
            <a:off x="0" y="0"/>
            <a:ext cx="12192000" cy="228600"/>
          </a:xfrm>
          <a:prstGeom xmlns:a="http://schemas.openxmlformats.org/drawingml/2006/main" prst="rect">
            <a:avLst/>
          </a:prstGeom>
          <a:solidFill xmlns:a="http://schemas.openxmlformats.org/drawingml/2006/main">
            <a:srgbClr val="D71920"/>
          </a:solidFill>
          <a:ln xmlns:a="http://schemas.openxmlformats.org/drawingml/2006/main" w="0">
            <a:noFill/>
            <a:prstDash val="solid"/>
          </a:ln>
        </p:spPr>
      </p:sp>
      <p:sp>
        <p:nvSpPr>
          <p:cNvPr id="2" name="text-1">
            <a:extLst xmlns:a="http://schemas.openxmlformats.org/drawingml/2006/main">
              <a:ext uri="{FF2B5EF4-FFF2-40B4-BE49-F238E27FC236}">
                <a16:creationId xmlns:a16="http://schemas.microsoft.com/office/drawing/2014/main" id="{7BBE1C90-7F7A-429F-B623-BFA25153112C}"/>
              </a:ext>
            </a:extLst>
          </p:cNvPr>
          <p:cNvSpPr>
            <a:spLocks xmlns:a="http://schemas.openxmlformats.org/drawingml/2006/main" noGrp="1"/>
          </p:cNvSpPr>
          <p:nvPr/>
        </p:nvSpPr>
        <p:spPr>
          <a:xfrm xmlns:a="http://schemas.openxmlformats.org/drawingml/2006/main">
            <a:off x="533400" y="140017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50" b="1">
                <a:solidFill>
                  <a:srgbClr val="D71920"/>
                </a:solidFill>
                <a:latin typeface="Aptos"/>
                <a:ea typeface="Aptos"/>
                <a:cs typeface="Aptos"/>
              </a:defRPr>
            </a:defPPr>
            <a:lvl1pPr algn="l">
              <a:defRPr sz="1350" b="1">
                <a:solidFill>
                  <a:srgbClr val="D71920"/>
                </a:solidFill>
                <a:latin typeface="Aptos"/>
                <a:ea typeface="Aptos"/>
                <a:cs typeface="Aptos"/>
              </a:defRPr>
            </a:lvl1pPr>
            <a:lvl2pPr algn="l">
              <a:defRPr sz="1350" b="1">
                <a:solidFill>
                  <a:srgbClr val="D71920"/>
                </a:solidFill>
                <a:latin typeface="Aptos"/>
                <a:ea typeface="Aptos"/>
                <a:cs typeface="Aptos"/>
              </a:defRPr>
            </a:lvl2pPr>
            <a:lvl3pPr algn="l">
              <a:defRPr sz="1350" b="1">
                <a:solidFill>
                  <a:srgbClr val="D71920"/>
                </a:solidFill>
                <a:latin typeface="Aptos"/>
                <a:ea typeface="Aptos"/>
                <a:cs typeface="Aptos"/>
              </a:defRPr>
            </a:lvl3pPr>
            <a:lvl4pPr algn="l">
              <a:defRPr sz="1350" b="1">
                <a:solidFill>
                  <a:srgbClr val="D71920"/>
                </a:solidFill>
                <a:latin typeface="Aptos"/>
                <a:ea typeface="Aptos"/>
                <a:cs typeface="Aptos"/>
              </a:defRPr>
            </a:lvl4pPr>
            <a:lvl5pPr algn="l">
              <a:defRPr sz="1350" b="1">
                <a:solidFill>
                  <a:srgbClr val="D71920"/>
                </a:solidFill>
                <a:latin typeface="Aptos"/>
                <a:ea typeface="Aptos"/>
                <a:cs typeface="Aptos"/>
              </a:defRPr>
            </a:lvl5pPr>
            <a:lvl6pPr algn="l">
              <a:defRPr sz="1350" b="1">
                <a:solidFill>
                  <a:srgbClr val="D71920"/>
                </a:solidFill>
                <a:latin typeface="Aptos"/>
                <a:ea typeface="Aptos"/>
                <a:cs typeface="Aptos"/>
              </a:defRPr>
            </a:lvl6pPr>
            <a:lvl7pPr algn="l">
              <a:defRPr sz="1350" b="1">
                <a:solidFill>
                  <a:srgbClr val="D71920"/>
                </a:solidFill>
                <a:latin typeface="Aptos"/>
                <a:ea typeface="Aptos"/>
                <a:cs typeface="Aptos"/>
              </a:defRPr>
            </a:lvl7pPr>
            <a:lvl8pPr algn="l">
              <a:defRPr sz="1350" b="1">
                <a:solidFill>
                  <a:srgbClr val="D71920"/>
                </a:solidFill>
                <a:latin typeface="Aptos"/>
                <a:ea typeface="Aptos"/>
                <a:cs typeface="Aptos"/>
              </a:defRPr>
            </a:lvl8pPr>
            <a:lvl9pPr algn="l">
              <a:defRPr sz="1350" b="1">
                <a:solidFill>
                  <a:srgbClr val="D71920"/>
                </a:solidFill>
                <a:latin typeface="Aptos"/>
                <a:ea typeface="Aptos"/>
                <a:cs typeface="Aptos"/>
              </a:defRPr>
            </a:lvl9pPr>
          </a:lstStyle>
          <a:p xmlns:a="http://schemas.openxmlformats.org/drawingml/2006/main">
            <a:pPr algn="l">
              <a:buNone/>
              <a:defRPr sz="1350" b="1">
                <a:solidFill>
                  <a:srgbClr val="D71920"/>
                </a:solidFill>
                <a:latin typeface="Aptos"/>
                <a:ea typeface="Aptos"/>
                <a:cs typeface="Aptos"/>
              </a:defRPr>
            </a:pPr>
            <a:r>
              <a:rPr sz="1350" b="1">
                <a:solidFill>
                  <a:srgbClr val="D71920"/>
                </a:solidFill>
                <a:latin typeface="Aptos"/>
                <a:ea typeface="Aptos"/>
                <a:cs typeface="Aptos"/>
              </a:rPr>
              <a:t>MEDICARE  /  CUSTOMER EXPERIENCE</a:t>
            </a:r>
          </a:p>
        </p:txBody>
      </p:sp>
      <p:sp>
        <p:nvSpPr>
          <p:cNvPr id="3" name="text-2">
            <a:extLst xmlns:a="http://schemas.openxmlformats.org/drawingml/2006/main">
              <a:ext uri="{FF2B5EF4-FFF2-40B4-BE49-F238E27FC236}">
                <a16:creationId xmlns:a16="http://schemas.microsoft.com/office/drawing/2014/main" id="{3C7D3832-6CEF-4313-A301-A21B7226E28F}"/>
              </a:ext>
            </a:extLst>
          </p:cNvPr>
          <p:cNvSpPr>
            <a:spLocks xmlns:a="http://schemas.openxmlformats.org/drawingml/2006/main" noGrp="1"/>
          </p:cNvSpPr>
          <p:nvPr/>
        </p:nvSpPr>
        <p:spPr>
          <a:xfrm xmlns:a="http://schemas.openxmlformats.org/drawingml/2006/main">
            <a:off x="533400" y="1895475"/>
            <a:ext cx="111252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5400" b="1">
                <a:solidFill>
                  <a:srgbClr val="323232"/>
                </a:solidFill>
                <a:latin typeface="Aptos Display"/>
                <a:ea typeface="Aptos Display"/>
                <a:cs typeface="Aptos Display"/>
              </a:defRPr>
            </a:defPPr>
            <a:lvl1pPr algn="l">
              <a:defRPr sz="5400" b="1">
                <a:solidFill>
                  <a:srgbClr val="323232"/>
                </a:solidFill>
                <a:latin typeface="Aptos Display"/>
                <a:ea typeface="Aptos Display"/>
                <a:cs typeface="Aptos Display"/>
              </a:defRPr>
            </a:lvl1pPr>
            <a:lvl2pPr algn="l">
              <a:defRPr sz="5400" b="1">
                <a:solidFill>
                  <a:srgbClr val="323232"/>
                </a:solidFill>
                <a:latin typeface="Aptos Display"/>
                <a:ea typeface="Aptos Display"/>
                <a:cs typeface="Aptos Display"/>
              </a:defRPr>
            </a:lvl2pPr>
            <a:lvl3pPr algn="l">
              <a:defRPr sz="5400" b="1">
                <a:solidFill>
                  <a:srgbClr val="323232"/>
                </a:solidFill>
                <a:latin typeface="Aptos Display"/>
                <a:ea typeface="Aptos Display"/>
                <a:cs typeface="Aptos Display"/>
              </a:defRPr>
            </a:lvl3pPr>
            <a:lvl4pPr algn="l">
              <a:defRPr sz="5400" b="1">
                <a:solidFill>
                  <a:srgbClr val="323232"/>
                </a:solidFill>
                <a:latin typeface="Aptos Display"/>
                <a:ea typeface="Aptos Display"/>
                <a:cs typeface="Aptos Display"/>
              </a:defRPr>
            </a:lvl4pPr>
            <a:lvl5pPr algn="l">
              <a:defRPr sz="5400" b="1">
                <a:solidFill>
                  <a:srgbClr val="323232"/>
                </a:solidFill>
                <a:latin typeface="Aptos Display"/>
                <a:ea typeface="Aptos Display"/>
                <a:cs typeface="Aptos Display"/>
              </a:defRPr>
            </a:lvl5pPr>
            <a:lvl6pPr algn="l">
              <a:defRPr sz="5400" b="1">
                <a:solidFill>
                  <a:srgbClr val="323232"/>
                </a:solidFill>
                <a:latin typeface="Aptos Display"/>
                <a:ea typeface="Aptos Display"/>
                <a:cs typeface="Aptos Display"/>
              </a:defRPr>
            </a:lvl6pPr>
            <a:lvl7pPr algn="l">
              <a:defRPr sz="5400" b="1">
                <a:solidFill>
                  <a:srgbClr val="323232"/>
                </a:solidFill>
                <a:latin typeface="Aptos Display"/>
                <a:ea typeface="Aptos Display"/>
                <a:cs typeface="Aptos Display"/>
              </a:defRPr>
            </a:lvl7pPr>
            <a:lvl8pPr algn="l">
              <a:defRPr sz="5400" b="1">
                <a:solidFill>
                  <a:srgbClr val="323232"/>
                </a:solidFill>
                <a:latin typeface="Aptos Display"/>
                <a:ea typeface="Aptos Display"/>
                <a:cs typeface="Aptos Display"/>
              </a:defRPr>
            </a:lvl8pPr>
            <a:lvl9pPr algn="l">
              <a:defRPr sz="5400" b="1">
                <a:solidFill>
                  <a:srgbClr val="323232"/>
                </a:solidFill>
                <a:latin typeface="Aptos Display"/>
                <a:ea typeface="Aptos Display"/>
                <a:cs typeface="Aptos Display"/>
              </a:defRPr>
            </a:lvl9pPr>
          </a:lstStyle>
          <a:p xmlns:a="http://schemas.openxmlformats.org/drawingml/2006/main">
            <a:pPr algn="l">
              <a:buNone/>
              <a:defRPr sz="5400" b="1">
                <a:solidFill>
                  <a:srgbClr val="323232"/>
                </a:solidFill>
                <a:latin typeface="Aptos Display"/>
                <a:ea typeface="Aptos Display"/>
                <a:cs typeface="Aptos Display"/>
              </a:defRPr>
            </a:pPr>
            <a:r>
              <a:rPr sz="5400" b="1">
                <a:solidFill>
                  <a:srgbClr val="323232"/>
                </a:solidFill>
                <a:latin typeface="Aptos Display"/>
                <a:ea typeface="Aptos Display"/>
                <a:cs typeface="Aptos Display"/>
              </a:rPr>
              <a:t>AMA AI</a:t>
            </a:r>
          </a:p>
        </p:txBody>
      </p:sp>
      <p:sp>
        <p:nvSpPr>
          <p:cNvPr id="4" name="text-3">
            <a:extLst xmlns:a="http://schemas.openxmlformats.org/drawingml/2006/main">
              <a:ext uri="{FF2B5EF4-FFF2-40B4-BE49-F238E27FC236}">
                <a16:creationId xmlns:a16="http://schemas.microsoft.com/office/drawing/2014/main" id="{2F5EAFC8-1947-4265-A583-4B30CD1A008D}"/>
              </a:ext>
            </a:extLst>
          </p:cNvPr>
          <p:cNvSpPr>
            <a:spLocks xmlns:a="http://schemas.openxmlformats.org/drawingml/2006/main" noGrp="1"/>
          </p:cNvSpPr>
          <p:nvPr/>
        </p:nvSpPr>
        <p:spPr>
          <a:xfrm xmlns:a="http://schemas.openxmlformats.org/drawingml/2006/main">
            <a:off x="533400" y="2733675"/>
            <a:ext cx="111252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4050" b="1">
                <a:solidFill>
                  <a:srgbClr val="D71920"/>
                </a:solidFill>
                <a:latin typeface="Aptos Display"/>
                <a:ea typeface="Aptos Display"/>
                <a:cs typeface="Aptos Display"/>
              </a:defRPr>
            </a:defPPr>
            <a:lvl1pPr algn="l">
              <a:defRPr sz="4050" b="1">
                <a:solidFill>
                  <a:srgbClr val="D71920"/>
                </a:solidFill>
                <a:latin typeface="Aptos Display"/>
                <a:ea typeface="Aptos Display"/>
                <a:cs typeface="Aptos Display"/>
              </a:defRPr>
            </a:lvl1pPr>
            <a:lvl2pPr algn="l">
              <a:defRPr sz="4050" b="1">
                <a:solidFill>
                  <a:srgbClr val="D71920"/>
                </a:solidFill>
                <a:latin typeface="Aptos Display"/>
                <a:ea typeface="Aptos Display"/>
                <a:cs typeface="Aptos Display"/>
              </a:defRPr>
            </a:lvl2pPr>
            <a:lvl3pPr algn="l">
              <a:defRPr sz="4050" b="1">
                <a:solidFill>
                  <a:srgbClr val="D71920"/>
                </a:solidFill>
                <a:latin typeface="Aptos Display"/>
                <a:ea typeface="Aptos Display"/>
                <a:cs typeface="Aptos Display"/>
              </a:defRPr>
            </a:lvl3pPr>
            <a:lvl4pPr algn="l">
              <a:defRPr sz="4050" b="1">
                <a:solidFill>
                  <a:srgbClr val="D71920"/>
                </a:solidFill>
                <a:latin typeface="Aptos Display"/>
                <a:ea typeface="Aptos Display"/>
                <a:cs typeface="Aptos Display"/>
              </a:defRPr>
            </a:lvl4pPr>
            <a:lvl5pPr algn="l">
              <a:defRPr sz="4050" b="1">
                <a:solidFill>
                  <a:srgbClr val="D71920"/>
                </a:solidFill>
                <a:latin typeface="Aptos Display"/>
                <a:ea typeface="Aptos Display"/>
                <a:cs typeface="Aptos Display"/>
              </a:defRPr>
            </a:lvl5pPr>
            <a:lvl6pPr algn="l">
              <a:defRPr sz="4050" b="1">
                <a:solidFill>
                  <a:srgbClr val="D71920"/>
                </a:solidFill>
                <a:latin typeface="Aptos Display"/>
                <a:ea typeface="Aptos Display"/>
                <a:cs typeface="Aptos Display"/>
              </a:defRPr>
            </a:lvl6pPr>
            <a:lvl7pPr algn="l">
              <a:defRPr sz="4050" b="1">
                <a:solidFill>
                  <a:srgbClr val="D71920"/>
                </a:solidFill>
                <a:latin typeface="Aptos Display"/>
                <a:ea typeface="Aptos Display"/>
                <a:cs typeface="Aptos Display"/>
              </a:defRPr>
            </a:lvl7pPr>
            <a:lvl8pPr algn="l">
              <a:defRPr sz="4050" b="1">
                <a:solidFill>
                  <a:srgbClr val="D71920"/>
                </a:solidFill>
                <a:latin typeface="Aptos Display"/>
                <a:ea typeface="Aptos Display"/>
                <a:cs typeface="Aptos Display"/>
              </a:defRPr>
            </a:lvl8pPr>
            <a:lvl9pPr algn="l">
              <a:defRPr sz="4050" b="1">
                <a:solidFill>
                  <a:srgbClr val="D71920"/>
                </a:solidFill>
                <a:latin typeface="Aptos Display"/>
                <a:ea typeface="Aptos Display"/>
                <a:cs typeface="Aptos Display"/>
              </a:defRPr>
            </a:lvl9pPr>
          </a:lstStyle>
          <a:p xmlns:a="http://schemas.openxmlformats.org/drawingml/2006/main">
            <a:pPr algn="l">
              <a:buNone/>
              <a:defRPr sz="4050" b="1">
                <a:solidFill>
                  <a:srgbClr val="D71920"/>
                </a:solidFill>
                <a:latin typeface="Aptos Display"/>
                <a:ea typeface="Aptos Display"/>
                <a:cs typeface="Aptos Display"/>
              </a:defRPr>
            </a:pPr>
            <a:r>
              <a:rPr sz="4050" b="1">
                <a:solidFill>
                  <a:srgbClr val="D71920"/>
                </a:solidFill>
                <a:latin typeface="Aptos Display"/>
                <a:ea typeface="Aptos Display"/>
                <a:cs typeface="Aptos Display"/>
              </a:rPr>
              <a:t>TEST REPORT</a:t>
            </a:r>
          </a:p>
        </p:txBody>
      </p:sp>
      <p:sp>
        <p:nvSpPr>
          <p:cNvPr id="5" name="">
            <a:extLst xmlns:a="http://schemas.openxmlformats.org/drawingml/2006/main">
              <a:ext uri="{FF2B5EF4-FFF2-40B4-BE49-F238E27FC236}">
                <a16:creationId xmlns:a16="http://schemas.microsoft.com/office/drawing/2014/main" id="{A0753CA7-0E77-4728-9C38-4A9EF63C78AD}"/>
              </a:ext>
            </a:extLst>
          </p:cNvPr>
          <p:cNvSpPr>
            <a:spLocks xmlns:a="http://schemas.openxmlformats.org/drawingml/2006/main" noGrp="1"/>
          </p:cNvSpPr>
          <p:nvPr/>
        </p:nvSpPr>
        <p:spPr>
          <a:xfrm xmlns:a="http://schemas.openxmlformats.org/drawingml/2006/main">
            <a:off x="533400" y="3619500"/>
            <a:ext cx="2190750" cy="47625"/>
          </a:xfrm>
          <a:prstGeom xmlns:a="http://schemas.openxmlformats.org/drawingml/2006/main" prst="rect">
            <a:avLst/>
          </a:prstGeom>
          <a:solidFill xmlns:a="http://schemas.openxmlformats.org/drawingml/2006/main">
            <a:srgbClr val="323232"/>
          </a:solidFill>
          <a:ln xmlns:a="http://schemas.openxmlformats.org/drawingml/2006/main" w="0">
            <a:noFill/>
            <a:prstDash val="solid"/>
          </a:ln>
        </p:spPr>
      </p:sp>
      <p:sp>
        <p:nvSpPr>
          <p:cNvPr id="6" name="text-5">
            <a:extLst xmlns:a="http://schemas.openxmlformats.org/drawingml/2006/main">
              <a:ext uri="{FF2B5EF4-FFF2-40B4-BE49-F238E27FC236}">
                <a16:creationId xmlns:a16="http://schemas.microsoft.com/office/drawing/2014/main" id="{02F3DA5E-C1B8-4F2E-BAFE-CCE88ED11093}"/>
              </a:ext>
            </a:extLst>
          </p:cNvPr>
          <p:cNvSpPr>
            <a:spLocks xmlns:a="http://schemas.openxmlformats.org/drawingml/2006/main" noGrp="1"/>
          </p:cNvSpPr>
          <p:nvPr/>
        </p:nvSpPr>
        <p:spPr>
          <a:xfrm xmlns:a="http://schemas.openxmlformats.org/drawingml/2006/main">
            <a:off x="533400" y="3933825"/>
            <a:ext cx="11125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100" b="1">
                <a:solidFill>
                  <a:srgbClr val="323232"/>
                </a:solidFill>
                <a:latin typeface="Aptos"/>
                <a:ea typeface="Aptos"/>
                <a:cs typeface="Aptos"/>
              </a:defRPr>
            </a:defPPr>
            <a:lvl1pPr algn="l">
              <a:defRPr sz="2100" b="1">
                <a:solidFill>
                  <a:srgbClr val="323232"/>
                </a:solidFill>
                <a:latin typeface="Aptos"/>
                <a:ea typeface="Aptos"/>
                <a:cs typeface="Aptos"/>
              </a:defRPr>
            </a:lvl1pPr>
            <a:lvl2pPr algn="l">
              <a:defRPr sz="2100" b="1">
                <a:solidFill>
                  <a:srgbClr val="323232"/>
                </a:solidFill>
                <a:latin typeface="Aptos"/>
                <a:ea typeface="Aptos"/>
                <a:cs typeface="Aptos"/>
              </a:defRPr>
            </a:lvl2pPr>
            <a:lvl3pPr algn="l">
              <a:defRPr sz="2100" b="1">
                <a:solidFill>
                  <a:srgbClr val="323232"/>
                </a:solidFill>
                <a:latin typeface="Aptos"/>
                <a:ea typeface="Aptos"/>
                <a:cs typeface="Aptos"/>
              </a:defRPr>
            </a:lvl3pPr>
            <a:lvl4pPr algn="l">
              <a:defRPr sz="2100" b="1">
                <a:solidFill>
                  <a:srgbClr val="323232"/>
                </a:solidFill>
                <a:latin typeface="Aptos"/>
                <a:ea typeface="Aptos"/>
                <a:cs typeface="Aptos"/>
              </a:defRPr>
            </a:lvl4pPr>
            <a:lvl5pPr algn="l">
              <a:defRPr sz="2100" b="1">
                <a:solidFill>
                  <a:srgbClr val="323232"/>
                </a:solidFill>
                <a:latin typeface="Aptos"/>
                <a:ea typeface="Aptos"/>
                <a:cs typeface="Aptos"/>
              </a:defRPr>
            </a:lvl5pPr>
            <a:lvl6pPr algn="l">
              <a:defRPr sz="2100" b="1">
                <a:solidFill>
                  <a:srgbClr val="323232"/>
                </a:solidFill>
                <a:latin typeface="Aptos"/>
                <a:ea typeface="Aptos"/>
                <a:cs typeface="Aptos"/>
              </a:defRPr>
            </a:lvl6pPr>
            <a:lvl7pPr algn="l">
              <a:defRPr sz="2100" b="1">
                <a:solidFill>
                  <a:srgbClr val="323232"/>
                </a:solidFill>
                <a:latin typeface="Aptos"/>
                <a:ea typeface="Aptos"/>
                <a:cs typeface="Aptos"/>
              </a:defRPr>
            </a:lvl7pPr>
            <a:lvl8pPr algn="l">
              <a:defRPr sz="2100" b="1">
                <a:solidFill>
                  <a:srgbClr val="323232"/>
                </a:solidFill>
                <a:latin typeface="Aptos"/>
                <a:ea typeface="Aptos"/>
                <a:cs typeface="Aptos"/>
              </a:defRPr>
            </a:lvl8pPr>
            <a:lvl9pPr algn="l">
              <a:defRPr sz="2100" b="1">
                <a:solidFill>
                  <a:srgbClr val="323232"/>
                </a:solidFill>
                <a:latin typeface="Aptos"/>
                <a:ea typeface="Aptos"/>
                <a:cs typeface="Aptos"/>
              </a:defRPr>
            </a:lvl9pPr>
          </a:lstStyle>
          <a:p xmlns:a="http://schemas.openxmlformats.org/drawingml/2006/main">
            <a:pPr algn="l">
              <a:buNone/>
              <a:defRPr sz="2100" b="1">
                <a:solidFill>
                  <a:srgbClr val="323232"/>
                </a:solidFill>
                <a:latin typeface="Aptos"/>
                <a:ea typeface="Aptos"/>
                <a:cs typeface="Aptos"/>
              </a:defRPr>
            </a:pPr>
            <a:r>
              <a:rPr sz="2100" b="1">
                <a:solidFill>
                  <a:srgbClr val="323232"/>
                </a:solidFill>
                <a:latin typeface="Aptos"/>
                <a:ea typeface="Aptos"/>
                <a:cs typeface="Aptos"/>
              </a:rPr>
              <a:t>Partner review for Scalability Engineers</a:t>
            </a:r>
          </a:p>
        </p:txBody>
      </p:sp>
      <p:sp>
        <p:nvSpPr>
          <p:cNvPr id="7" name="text-6">
            <a:extLst xmlns:a="http://schemas.openxmlformats.org/drawingml/2006/main">
              <a:ext uri="{FF2B5EF4-FFF2-40B4-BE49-F238E27FC236}">
                <a16:creationId xmlns:a16="http://schemas.microsoft.com/office/drawing/2014/main" id="{0A4E5F80-B439-42B1-9723-7F60D9D2B860}"/>
              </a:ext>
            </a:extLst>
          </p:cNvPr>
          <p:cNvSpPr>
            <a:spLocks xmlns:a="http://schemas.openxmlformats.org/drawingml/2006/main" noGrp="1"/>
          </p:cNvSpPr>
          <p:nvPr/>
        </p:nvSpPr>
        <p:spPr>
          <a:xfrm xmlns:a="http://schemas.openxmlformats.org/drawingml/2006/main">
            <a:off x="533400" y="4476750"/>
            <a:ext cx="1057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6F6F6F"/>
                </a:solidFill>
                <a:latin typeface="Aptos"/>
                <a:ea typeface="Aptos"/>
                <a:cs typeface="Aptos"/>
              </a:defRPr>
            </a:defPPr>
            <a:lvl1pPr algn="l">
              <a:defRPr sz="1800" b="0">
                <a:solidFill>
                  <a:srgbClr val="6F6F6F"/>
                </a:solidFill>
                <a:latin typeface="Aptos"/>
                <a:ea typeface="Aptos"/>
                <a:cs typeface="Aptos"/>
              </a:defRPr>
            </a:lvl1pPr>
            <a:lvl2pPr algn="l">
              <a:defRPr sz="1800" b="0">
                <a:solidFill>
                  <a:srgbClr val="6F6F6F"/>
                </a:solidFill>
                <a:latin typeface="Aptos"/>
                <a:ea typeface="Aptos"/>
                <a:cs typeface="Aptos"/>
              </a:defRPr>
            </a:lvl2pPr>
            <a:lvl3pPr algn="l">
              <a:defRPr sz="1800" b="0">
                <a:solidFill>
                  <a:srgbClr val="6F6F6F"/>
                </a:solidFill>
                <a:latin typeface="Aptos"/>
                <a:ea typeface="Aptos"/>
                <a:cs typeface="Aptos"/>
              </a:defRPr>
            </a:lvl3pPr>
            <a:lvl4pPr algn="l">
              <a:defRPr sz="1800" b="0">
                <a:solidFill>
                  <a:srgbClr val="6F6F6F"/>
                </a:solidFill>
                <a:latin typeface="Aptos"/>
                <a:ea typeface="Aptos"/>
                <a:cs typeface="Aptos"/>
              </a:defRPr>
            </a:lvl4pPr>
            <a:lvl5pPr algn="l">
              <a:defRPr sz="1800" b="0">
                <a:solidFill>
                  <a:srgbClr val="6F6F6F"/>
                </a:solidFill>
                <a:latin typeface="Aptos"/>
                <a:ea typeface="Aptos"/>
                <a:cs typeface="Aptos"/>
              </a:defRPr>
            </a:lvl5pPr>
            <a:lvl6pPr algn="l">
              <a:defRPr sz="1800" b="0">
                <a:solidFill>
                  <a:srgbClr val="6F6F6F"/>
                </a:solidFill>
                <a:latin typeface="Aptos"/>
                <a:ea typeface="Aptos"/>
                <a:cs typeface="Aptos"/>
              </a:defRPr>
            </a:lvl6pPr>
            <a:lvl7pPr algn="l">
              <a:defRPr sz="1800" b="0">
                <a:solidFill>
                  <a:srgbClr val="6F6F6F"/>
                </a:solidFill>
                <a:latin typeface="Aptos"/>
                <a:ea typeface="Aptos"/>
                <a:cs typeface="Aptos"/>
              </a:defRPr>
            </a:lvl7pPr>
            <a:lvl8pPr algn="l">
              <a:defRPr sz="1800" b="0">
                <a:solidFill>
                  <a:srgbClr val="6F6F6F"/>
                </a:solidFill>
                <a:latin typeface="Aptos"/>
                <a:ea typeface="Aptos"/>
                <a:cs typeface="Aptos"/>
              </a:defRPr>
            </a:lvl8pPr>
            <a:lvl9pPr algn="l">
              <a:defRPr sz="1800" b="0">
                <a:solidFill>
                  <a:srgbClr val="6F6F6F"/>
                </a:solidFill>
                <a:latin typeface="Aptos"/>
                <a:ea typeface="Aptos"/>
                <a:cs typeface="Aptos"/>
              </a:defRPr>
            </a:lvl9pPr>
          </a:lstStyle>
          <a:p xmlns:a="http://schemas.openxmlformats.org/drawingml/2006/main">
            <a:pPr algn="l">
              <a:buNone/>
              <a:defRPr sz="1800" b="0">
                <a:solidFill>
                  <a:srgbClr val="6F6F6F"/>
                </a:solidFill>
                <a:latin typeface="Aptos"/>
                <a:ea typeface="Aptos"/>
                <a:cs typeface="Aptos"/>
              </a:defRPr>
            </a:pPr>
            <a:r>
              <a:rPr sz="1800" b="0">
                <a:solidFill>
                  <a:srgbClr val="6F6F6F"/>
                </a:solidFill>
                <a:latin typeface="Aptos"/>
                <a:ea typeface="Aptos"/>
                <a:cs typeface="Aptos"/>
              </a:rPr>
              <a:t>66 quantitative checks and 24 conversational stress tests</a:t>
            </a:r>
          </a:p>
        </p:txBody>
      </p:sp>
      <p:sp>
        <p:nvSpPr>
          <p:cNvPr id="8" name="text-7">
            <a:extLst xmlns:a="http://schemas.openxmlformats.org/drawingml/2006/main">
              <a:ext uri="{FF2B5EF4-FFF2-40B4-BE49-F238E27FC236}">
                <a16:creationId xmlns:a16="http://schemas.microsoft.com/office/drawing/2014/main" id="{A3D20467-43FD-4156-BDDF-06200B24BF1E}"/>
              </a:ext>
            </a:extLst>
          </p:cNvPr>
          <p:cNvSpPr>
            <a:spLocks xmlns:a="http://schemas.openxmlformats.org/drawingml/2006/main" noGrp="1"/>
          </p:cNvSpPr>
          <p:nvPr/>
        </p:nvSpPr>
        <p:spPr>
          <a:xfrm xmlns:a="http://schemas.openxmlformats.org/drawingml/2006/main">
            <a:off x="533400" y="5572125"/>
            <a:ext cx="857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323232"/>
                </a:solidFill>
                <a:latin typeface="Aptos"/>
                <a:ea typeface="Aptos"/>
                <a:cs typeface="Aptos"/>
              </a:defRPr>
            </a:defPPr>
            <a:lvl1pPr algn="l">
              <a:defRPr sz="1800" b="0">
                <a:solidFill>
                  <a:srgbClr val="323232"/>
                </a:solidFill>
                <a:latin typeface="Aptos"/>
                <a:ea typeface="Aptos"/>
                <a:cs typeface="Aptos"/>
              </a:defRPr>
            </a:lvl1pPr>
            <a:lvl2pPr algn="l">
              <a:defRPr sz="1800" b="0">
                <a:solidFill>
                  <a:srgbClr val="323232"/>
                </a:solidFill>
                <a:latin typeface="Aptos"/>
                <a:ea typeface="Aptos"/>
                <a:cs typeface="Aptos"/>
              </a:defRPr>
            </a:lvl2pPr>
            <a:lvl3pPr algn="l">
              <a:defRPr sz="1800" b="0">
                <a:solidFill>
                  <a:srgbClr val="323232"/>
                </a:solidFill>
                <a:latin typeface="Aptos"/>
                <a:ea typeface="Aptos"/>
                <a:cs typeface="Aptos"/>
              </a:defRPr>
            </a:lvl3pPr>
            <a:lvl4pPr algn="l">
              <a:defRPr sz="1800" b="0">
                <a:solidFill>
                  <a:srgbClr val="323232"/>
                </a:solidFill>
                <a:latin typeface="Aptos"/>
                <a:ea typeface="Aptos"/>
                <a:cs typeface="Aptos"/>
              </a:defRPr>
            </a:lvl4pPr>
            <a:lvl5pPr algn="l">
              <a:defRPr sz="1800" b="0">
                <a:solidFill>
                  <a:srgbClr val="323232"/>
                </a:solidFill>
                <a:latin typeface="Aptos"/>
                <a:ea typeface="Aptos"/>
                <a:cs typeface="Aptos"/>
              </a:defRPr>
            </a:lvl5pPr>
            <a:lvl6pPr algn="l">
              <a:defRPr sz="1800" b="0">
                <a:solidFill>
                  <a:srgbClr val="323232"/>
                </a:solidFill>
                <a:latin typeface="Aptos"/>
                <a:ea typeface="Aptos"/>
                <a:cs typeface="Aptos"/>
              </a:defRPr>
            </a:lvl6pPr>
            <a:lvl7pPr algn="l">
              <a:defRPr sz="1800" b="0">
                <a:solidFill>
                  <a:srgbClr val="323232"/>
                </a:solidFill>
                <a:latin typeface="Aptos"/>
                <a:ea typeface="Aptos"/>
                <a:cs typeface="Aptos"/>
              </a:defRPr>
            </a:lvl7pPr>
            <a:lvl8pPr algn="l">
              <a:defRPr sz="1800" b="0">
                <a:solidFill>
                  <a:srgbClr val="323232"/>
                </a:solidFill>
                <a:latin typeface="Aptos"/>
                <a:ea typeface="Aptos"/>
                <a:cs typeface="Aptos"/>
              </a:defRPr>
            </a:lvl8pPr>
            <a:lvl9pPr algn="l">
              <a:defRPr sz="1800" b="0">
                <a:solidFill>
                  <a:srgbClr val="323232"/>
                </a:solidFill>
                <a:latin typeface="Aptos"/>
                <a:ea typeface="Aptos"/>
                <a:cs typeface="Aptos"/>
              </a:defRPr>
            </a:lvl9pPr>
          </a:lstStyle>
          <a:p xmlns:a="http://schemas.openxmlformats.org/drawingml/2006/main">
            <a:pPr algn="l">
              <a:buNone/>
              <a:defRPr sz="1800" b="0">
                <a:solidFill>
                  <a:srgbClr val="323232"/>
                </a:solidFill>
                <a:latin typeface="Aptos"/>
                <a:ea typeface="Aptos"/>
                <a:cs typeface="Aptos"/>
              </a:defRPr>
            </a:pPr>
            <a:r>
              <a:rPr sz="1800" b="0">
                <a:solidFill>
                  <a:srgbClr val="323232"/>
                </a:solidFill>
                <a:latin typeface="Aptos"/>
                <a:ea typeface="Aptos"/>
                <a:cs typeface="Aptos"/>
              </a:rPr>
              <a:t>20 October 2026</a:t>
            </a:r>
          </a:p>
        </p:txBody>
      </p:sp>
      <p:sp>
        <p:nvSpPr>
          <p:cNvPr id="9" name="text-8">
            <a:extLst xmlns:a="http://schemas.openxmlformats.org/drawingml/2006/main">
              <a:ext uri="{FF2B5EF4-FFF2-40B4-BE49-F238E27FC236}">
                <a16:creationId xmlns:a16="http://schemas.microsoft.com/office/drawing/2014/main" id="{9B2D4085-9D71-4F29-A174-2A916E8BC847}"/>
              </a:ext>
            </a:extLst>
          </p:cNvPr>
          <p:cNvSpPr>
            <a:spLocks xmlns:a="http://schemas.openxmlformats.org/drawingml/2006/main" noGrp="1"/>
          </p:cNvSpPr>
          <p:nvPr/>
        </p:nvSpPr>
        <p:spPr>
          <a:xfrm xmlns:a="http://schemas.openxmlformats.org/drawingml/2006/main">
            <a:off x="533400" y="6353175"/>
            <a:ext cx="1112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050" b="0">
                <a:solidFill>
                  <a:srgbClr val="6F6F6F"/>
                </a:solidFill>
                <a:latin typeface="Aptos"/>
                <a:ea typeface="Aptos"/>
                <a:cs typeface="Aptos"/>
              </a:defRPr>
            </a:defPPr>
            <a:lvl1pPr algn="l">
              <a:defRPr sz="1050" b="0">
                <a:solidFill>
                  <a:srgbClr val="6F6F6F"/>
                </a:solidFill>
                <a:latin typeface="Aptos"/>
                <a:ea typeface="Aptos"/>
                <a:cs typeface="Aptos"/>
              </a:defRPr>
            </a:lvl1pPr>
            <a:lvl2pPr algn="l">
              <a:defRPr sz="1050" b="0">
                <a:solidFill>
                  <a:srgbClr val="6F6F6F"/>
                </a:solidFill>
                <a:latin typeface="Aptos"/>
                <a:ea typeface="Aptos"/>
                <a:cs typeface="Aptos"/>
              </a:defRPr>
            </a:lvl2pPr>
            <a:lvl3pPr algn="l">
              <a:defRPr sz="1050" b="0">
                <a:solidFill>
                  <a:srgbClr val="6F6F6F"/>
                </a:solidFill>
                <a:latin typeface="Aptos"/>
                <a:ea typeface="Aptos"/>
                <a:cs typeface="Aptos"/>
              </a:defRPr>
            </a:lvl3pPr>
            <a:lvl4pPr algn="l">
              <a:defRPr sz="1050" b="0">
                <a:solidFill>
                  <a:srgbClr val="6F6F6F"/>
                </a:solidFill>
                <a:latin typeface="Aptos"/>
                <a:ea typeface="Aptos"/>
                <a:cs typeface="Aptos"/>
              </a:defRPr>
            </a:lvl4pPr>
            <a:lvl5pPr algn="l">
              <a:defRPr sz="1050" b="0">
                <a:solidFill>
                  <a:srgbClr val="6F6F6F"/>
                </a:solidFill>
                <a:latin typeface="Aptos"/>
                <a:ea typeface="Aptos"/>
                <a:cs typeface="Aptos"/>
              </a:defRPr>
            </a:lvl5pPr>
            <a:lvl6pPr algn="l">
              <a:defRPr sz="1050" b="0">
                <a:solidFill>
                  <a:srgbClr val="6F6F6F"/>
                </a:solidFill>
                <a:latin typeface="Aptos"/>
                <a:ea typeface="Aptos"/>
                <a:cs typeface="Aptos"/>
              </a:defRPr>
            </a:lvl6pPr>
            <a:lvl7pPr algn="l">
              <a:defRPr sz="1050" b="0">
                <a:solidFill>
                  <a:srgbClr val="6F6F6F"/>
                </a:solidFill>
                <a:latin typeface="Aptos"/>
                <a:ea typeface="Aptos"/>
                <a:cs typeface="Aptos"/>
              </a:defRPr>
            </a:lvl7pPr>
            <a:lvl8pPr algn="l">
              <a:defRPr sz="1050" b="0">
                <a:solidFill>
                  <a:srgbClr val="6F6F6F"/>
                </a:solidFill>
                <a:latin typeface="Aptos"/>
                <a:ea typeface="Aptos"/>
                <a:cs typeface="Aptos"/>
              </a:defRPr>
            </a:lvl8pPr>
            <a:lvl9pPr algn="l">
              <a:defRPr sz="1050" b="0">
                <a:solidFill>
                  <a:srgbClr val="6F6F6F"/>
                </a:solidFill>
                <a:latin typeface="Aptos"/>
                <a:ea typeface="Aptos"/>
                <a:cs typeface="Aptos"/>
              </a:defRPr>
            </a:lvl9pPr>
          </a:lstStyle>
          <a:p xmlns:a="http://schemas.openxmlformats.org/drawingml/2006/main">
            <a:pPr algn="l">
              <a:buNone/>
              <a:defRPr sz="1050" b="0">
                <a:solidFill>
                  <a:srgbClr val="6F6F6F"/>
                </a:solidFill>
                <a:latin typeface="Aptos"/>
                <a:ea typeface="Aptos"/>
                <a:cs typeface="Aptos"/>
              </a:defRPr>
            </a:pPr>
            <a:r>
              <a:rPr sz="1050" b="0">
                <a:solidFill>
                  <a:srgbClr val="6F6F6F"/>
                </a:solidFill>
                <a:latin typeface="Aptos"/>
                <a:ea typeface="Aptos"/>
                <a:cs typeface="Aptos"/>
              </a:rPr>
              <a:t>Medicare · Customer Experience</a:t>
            </a:r>
          </a:p>
        </p:txBody>
      </p:sp>
    </p:spTree>
    <p:extLst>
      <p:ext uri="{BB962C8B-B14F-4D97-AF65-F5344CB8AC3E}">
        <p14:creationId xmlns:p14="http://schemas.microsoft.com/office/powerpoint/2010/main" val="769229807"/>
      </p:ext>
    </p:extLst>
  </p:cSld>
</p:sld>
</file>

<file path=ppt/slides/slide2.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CCFE36F3-99F8-4E85-8ECF-5687C3868616}"/>
              </a:ext>
            </a:extLst>
          </p:cNvPr>
          <p:cNvSpPr>
            <a:spLocks xmlns:a="http://schemas.openxmlformats.org/drawingml/2006/main" noGrp="1"/>
          </p:cNvSpPr>
          <p:nvPr/>
        </p:nvSpPr>
        <p:spPr>
          <a:xfrm xmlns:a="http://schemas.openxmlformats.org/drawingml/2006/main">
            <a:off x="533400" y="266700"/>
            <a:ext cx="1112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050" b="1">
                <a:solidFill>
                  <a:srgbClr val="D71920"/>
                </a:solidFill>
                <a:latin typeface="Aptos"/>
                <a:ea typeface="Aptos"/>
                <a:cs typeface="Aptos"/>
              </a:defRPr>
            </a:defPPr>
            <a:lvl1pPr algn="l">
              <a:defRPr sz="1050" b="1">
                <a:solidFill>
                  <a:srgbClr val="D71920"/>
                </a:solidFill>
                <a:latin typeface="Aptos"/>
                <a:ea typeface="Aptos"/>
                <a:cs typeface="Aptos"/>
              </a:defRPr>
            </a:lvl1pPr>
            <a:lvl2pPr algn="l">
              <a:defRPr sz="1050" b="1">
                <a:solidFill>
                  <a:srgbClr val="D71920"/>
                </a:solidFill>
                <a:latin typeface="Aptos"/>
                <a:ea typeface="Aptos"/>
                <a:cs typeface="Aptos"/>
              </a:defRPr>
            </a:lvl2pPr>
            <a:lvl3pPr algn="l">
              <a:defRPr sz="1050" b="1">
                <a:solidFill>
                  <a:srgbClr val="D71920"/>
                </a:solidFill>
                <a:latin typeface="Aptos"/>
                <a:ea typeface="Aptos"/>
                <a:cs typeface="Aptos"/>
              </a:defRPr>
            </a:lvl3pPr>
            <a:lvl4pPr algn="l">
              <a:defRPr sz="1050" b="1">
                <a:solidFill>
                  <a:srgbClr val="D71920"/>
                </a:solidFill>
                <a:latin typeface="Aptos"/>
                <a:ea typeface="Aptos"/>
                <a:cs typeface="Aptos"/>
              </a:defRPr>
            </a:lvl4pPr>
            <a:lvl5pPr algn="l">
              <a:defRPr sz="1050" b="1">
                <a:solidFill>
                  <a:srgbClr val="D71920"/>
                </a:solidFill>
                <a:latin typeface="Aptos"/>
                <a:ea typeface="Aptos"/>
                <a:cs typeface="Aptos"/>
              </a:defRPr>
            </a:lvl5pPr>
            <a:lvl6pPr algn="l">
              <a:defRPr sz="1050" b="1">
                <a:solidFill>
                  <a:srgbClr val="D71920"/>
                </a:solidFill>
                <a:latin typeface="Aptos"/>
                <a:ea typeface="Aptos"/>
                <a:cs typeface="Aptos"/>
              </a:defRPr>
            </a:lvl6pPr>
            <a:lvl7pPr algn="l">
              <a:defRPr sz="1050" b="1">
                <a:solidFill>
                  <a:srgbClr val="D71920"/>
                </a:solidFill>
                <a:latin typeface="Aptos"/>
                <a:ea typeface="Aptos"/>
                <a:cs typeface="Aptos"/>
              </a:defRPr>
            </a:lvl7pPr>
            <a:lvl8pPr algn="l">
              <a:defRPr sz="1050" b="1">
                <a:solidFill>
                  <a:srgbClr val="D71920"/>
                </a:solidFill>
                <a:latin typeface="Aptos"/>
                <a:ea typeface="Aptos"/>
                <a:cs typeface="Aptos"/>
              </a:defRPr>
            </a:lvl8pPr>
            <a:lvl9pPr algn="l">
              <a:defRPr sz="1050" b="1">
                <a:solidFill>
                  <a:srgbClr val="D71920"/>
                </a:solidFill>
                <a:latin typeface="Aptos"/>
                <a:ea typeface="Aptos"/>
                <a:cs typeface="Aptos"/>
              </a:defRPr>
            </a:lvl9pPr>
          </a:lstStyle>
          <a:p xmlns:a="http://schemas.openxmlformats.org/drawingml/2006/main">
            <a:pPr algn="l">
              <a:buNone/>
              <a:defRPr sz="1050" b="1">
                <a:solidFill>
                  <a:srgbClr val="D71920"/>
                </a:solidFill>
                <a:latin typeface="Aptos"/>
                <a:ea typeface="Aptos"/>
                <a:cs typeface="Aptos"/>
              </a:defRPr>
            </a:pPr>
            <a:r>
              <a:rPr sz="1050" b="1">
                <a:solidFill>
                  <a:srgbClr val="D71920"/>
                </a:solidFill>
                <a:latin typeface="Aptos"/>
                <a:ea typeface="Aptos"/>
                <a:cs typeface="Aptos"/>
              </a:rPr>
              <a:t>QUANTITATIVE TESTS</a:t>
            </a:r>
          </a:p>
        </p:txBody>
      </p:sp>
      <p:sp>
        <p:nvSpPr>
          <p:cNvPr id="2" name="text-1">
            <a:extLst xmlns:a="http://schemas.openxmlformats.org/drawingml/2006/main">
              <a:ext uri="{FF2B5EF4-FFF2-40B4-BE49-F238E27FC236}">
                <a16:creationId xmlns:a16="http://schemas.microsoft.com/office/drawing/2014/main" id="{51FE4BED-C077-4E6B-8E65-EDDF0008E68C}"/>
              </a:ext>
            </a:extLst>
          </p:cNvPr>
          <p:cNvSpPr>
            <a:spLocks xmlns:a="http://schemas.openxmlformats.org/drawingml/2006/main" noGrp="1"/>
          </p:cNvSpPr>
          <p:nvPr/>
        </p:nvSpPr>
        <p:spPr>
          <a:xfrm xmlns:a="http://schemas.openxmlformats.org/drawingml/2006/main">
            <a:off x="533400" y="533400"/>
            <a:ext cx="111252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323232"/>
                </a:solidFill>
                <a:latin typeface="Aptos Display"/>
                <a:ea typeface="Aptos Display"/>
                <a:cs typeface="Aptos Display"/>
              </a:defRPr>
            </a:defPPr>
            <a:lvl1pPr algn="l">
              <a:defRPr sz="2550" b="1">
                <a:solidFill>
                  <a:srgbClr val="323232"/>
                </a:solidFill>
                <a:latin typeface="Aptos Display"/>
                <a:ea typeface="Aptos Display"/>
                <a:cs typeface="Aptos Display"/>
              </a:defRPr>
            </a:lvl1pPr>
            <a:lvl2pPr algn="l">
              <a:defRPr sz="2550" b="1">
                <a:solidFill>
                  <a:srgbClr val="323232"/>
                </a:solidFill>
                <a:latin typeface="Aptos Display"/>
                <a:ea typeface="Aptos Display"/>
                <a:cs typeface="Aptos Display"/>
              </a:defRPr>
            </a:lvl2pPr>
            <a:lvl3pPr algn="l">
              <a:defRPr sz="2550" b="1">
                <a:solidFill>
                  <a:srgbClr val="323232"/>
                </a:solidFill>
                <a:latin typeface="Aptos Display"/>
                <a:ea typeface="Aptos Display"/>
                <a:cs typeface="Aptos Display"/>
              </a:defRPr>
            </a:lvl3pPr>
            <a:lvl4pPr algn="l">
              <a:defRPr sz="2550" b="1">
                <a:solidFill>
                  <a:srgbClr val="323232"/>
                </a:solidFill>
                <a:latin typeface="Aptos Display"/>
                <a:ea typeface="Aptos Display"/>
                <a:cs typeface="Aptos Display"/>
              </a:defRPr>
            </a:lvl4pPr>
            <a:lvl5pPr algn="l">
              <a:defRPr sz="2550" b="1">
                <a:solidFill>
                  <a:srgbClr val="323232"/>
                </a:solidFill>
                <a:latin typeface="Aptos Display"/>
                <a:ea typeface="Aptos Display"/>
                <a:cs typeface="Aptos Display"/>
              </a:defRPr>
            </a:lvl5pPr>
            <a:lvl6pPr algn="l">
              <a:defRPr sz="2550" b="1">
                <a:solidFill>
                  <a:srgbClr val="323232"/>
                </a:solidFill>
                <a:latin typeface="Aptos Display"/>
                <a:ea typeface="Aptos Display"/>
                <a:cs typeface="Aptos Display"/>
              </a:defRPr>
            </a:lvl6pPr>
            <a:lvl7pPr algn="l">
              <a:defRPr sz="2550" b="1">
                <a:solidFill>
                  <a:srgbClr val="323232"/>
                </a:solidFill>
                <a:latin typeface="Aptos Display"/>
                <a:ea typeface="Aptos Display"/>
                <a:cs typeface="Aptos Display"/>
              </a:defRPr>
            </a:lvl7pPr>
            <a:lvl8pPr algn="l">
              <a:defRPr sz="2550" b="1">
                <a:solidFill>
                  <a:srgbClr val="323232"/>
                </a:solidFill>
                <a:latin typeface="Aptos Display"/>
                <a:ea typeface="Aptos Display"/>
                <a:cs typeface="Aptos Display"/>
              </a:defRPr>
            </a:lvl8pPr>
            <a:lvl9pPr algn="l">
              <a:defRPr sz="2550" b="1">
                <a:solidFill>
                  <a:srgbClr val="323232"/>
                </a:solidFill>
                <a:latin typeface="Aptos Display"/>
                <a:ea typeface="Aptos Display"/>
                <a:cs typeface="Aptos Display"/>
              </a:defRPr>
            </a:lvl9pPr>
          </a:lstStyle>
          <a:p xmlns:a="http://schemas.openxmlformats.org/drawingml/2006/main">
            <a:pPr algn="l">
              <a:buNone/>
              <a:defRPr sz="2550" b="1">
                <a:solidFill>
                  <a:srgbClr val="323232"/>
                </a:solidFill>
                <a:latin typeface="Aptos Display"/>
                <a:ea typeface="Aptos Display"/>
                <a:cs typeface="Aptos Display"/>
              </a:defRPr>
            </a:pPr>
            <a:r>
              <a:rPr sz="2550" b="1">
                <a:solidFill>
                  <a:srgbClr val="323232"/>
                </a:solidFill>
                <a:latin typeface="Aptos Display"/>
                <a:ea typeface="Aptos Display"/>
                <a:cs typeface="Aptos Display"/>
              </a:rPr>
              <a:t>62 of 66 cases conform in the latest recorded response</a:t>
            </a:r>
          </a:p>
        </p:txBody>
      </p:sp>
      <p:sp>
        <p:nvSpPr>
          <p:cNvPr id="3" name="">
            <a:extLst xmlns:a="http://schemas.openxmlformats.org/drawingml/2006/main">
              <a:ext uri="{FF2B5EF4-FFF2-40B4-BE49-F238E27FC236}">
                <a16:creationId xmlns:a16="http://schemas.microsoft.com/office/drawing/2014/main" id="{47F04079-789A-4362-9F25-AFC4EAF572D4}"/>
              </a:ext>
            </a:extLst>
          </p:cNvPr>
          <p:cNvSpPr>
            <a:spLocks xmlns:a="http://schemas.openxmlformats.org/drawingml/2006/main" noGrp="1"/>
          </p:cNvSpPr>
          <p:nvPr/>
        </p:nvSpPr>
        <p:spPr>
          <a:xfrm xmlns:a="http://schemas.openxmlformats.org/drawingml/2006/main">
            <a:off x="533400" y="1019175"/>
            <a:ext cx="11125200" cy="9525"/>
          </a:xfrm>
          <a:prstGeom xmlns:a="http://schemas.openxmlformats.org/drawingml/2006/main" prst="rect">
            <a:avLst/>
          </a:prstGeom>
          <a:solidFill xmlns:a="http://schemas.openxmlformats.org/drawingml/2006/main">
            <a:srgbClr val="E8E8E8"/>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A1242558-ABF0-4AD1-A6C0-9D411A021583}"/>
              </a:ext>
            </a:extLst>
          </p:cNvPr>
          <p:cNvSpPr>
            <a:spLocks xmlns:a="http://schemas.openxmlformats.org/drawingml/2006/main" noGrp="1"/>
          </p:cNvSpPr>
          <p:nvPr/>
        </p:nvSpPr>
        <p:spPr>
          <a:xfrm xmlns:a="http://schemas.openxmlformats.org/drawingml/2006/main">
            <a:off x="533400" y="1162050"/>
            <a:ext cx="11125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D71920"/>
                </a:solidFill>
                <a:latin typeface="Aptos"/>
                <a:ea typeface="Aptos"/>
                <a:cs typeface="Aptos"/>
              </a:defRPr>
            </a:defPPr>
            <a:lvl1pPr algn="l">
              <a:defRPr sz="1500" b="1">
                <a:solidFill>
                  <a:srgbClr val="D71920"/>
                </a:solidFill>
                <a:latin typeface="Aptos"/>
                <a:ea typeface="Aptos"/>
                <a:cs typeface="Aptos"/>
              </a:defRPr>
            </a:lvl1pPr>
            <a:lvl2pPr algn="l">
              <a:defRPr sz="1500" b="1">
                <a:solidFill>
                  <a:srgbClr val="D71920"/>
                </a:solidFill>
                <a:latin typeface="Aptos"/>
                <a:ea typeface="Aptos"/>
                <a:cs typeface="Aptos"/>
              </a:defRPr>
            </a:lvl2pPr>
            <a:lvl3pPr algn="l">
              <a:defRPr sz="1500" b="1">
                <a:solidFill>
                  <a:srgbClr val="D71920"/>
                </a:solidFill>
                <a:latin typeface="Aptos"/>
                <a:ea typeface="Aptos"/>
                <a:cs typeface="Aptos"/>
              </a:defRPr>
            </a:lvl3pPr>
            <a:lvl4pPr algn="l">
              <a:defRPr sz="1500" b="1">
                <a:solidFill>
                  <a:srgbClr val="D71920"/>
                </a:solidFill>
                <a:latin typeface="Aptos"/>
                <a:ea typeface="Aptos"/>
                <a:cs typeface="Aptos"/>
              </a:defRPr>
            </a:lvl4pPr>
            <a:lvl5pPr algn="l">
              <a:defRPr sz="1500" b="1">
                <a:solidFill>
                  <a:srgbClr val="D71920"/>
                </a:solidFill>
                <a:latin typeface="Aptos"/>
                <a:ea typeface="Aptos"/>
                <a:cs typeface="Aptos"/>
              </a:defRPr>
            </a:lvl5pPr>
            <a:lvl6pPr algn="l">
              <a:defRPr sz="1500" b="1">
                <a:solidFill>
                  <a:srgbClr val="D71920"/>
                </a:solidFill>
                <a:latin typeface="Aptos"/>
                <a:ea typeface="Aptos"/>
                <a:cs typeface="Aptos"/>
              </a:defRPr>
            </a:lvl6pPr>
            <a:lvl7pPr algn="l">
              <a:defRPr sz="1500" b="1">
                <a:solidFill>
                  <a:srgbClr val="D71920"/>
                </a:solidFill>
                <a:latin typeface="Aptos"/>
                <a:ea typeface="Aptos"/>
                <a:cs typeface="Aptos"/>
              </a:defRPr>
            </a:lvl7pPr>
            <a:lvl8pPr algn="l">
              <a:defRPr sz="1500" b="1">
                <a:solidFill>
                  <a:srgbClr val="D71920"/>
                </a:solidFill>
                <a:latin typeface="Aptos"/>
                <a:ea typeface="Aptos"/>
                <a:cs typeface="Aptos"/>
              </a:defRPr>
            </a:lvl8pPr>
            <a:lvl9pPr algn="l">
              <a:defRPr sz="1500" b="1">
                <a:solidFill>
                  <a:srgbClr val="D71920"/>
                </a:solidFill>
                <a:latin typeface="Aptos"/>
                <a:ea typeface="Aptos"/>
                <a:cs typeface="Aptos"/>
              </a:defRPr>
            </a:lvl9pPr>
          </a:lstStyle>
          <a:p xmlns:a="http://schemas.openxmlformats.org/drawingml/2006/main">
            <a:pPr algn="l">
              <a:buNone/>
              <a:defRPr sz="1500" b="1">
                <a:solidFill>
                  <a:srgbClr val="D71920"/>
                </a:solidFill>
                <a:latin typeface="Aptos"/>
                <a:ea typeface="Aptos"/>
                <a:cs typeface="Aptos"/>
              </a:defRPr>
            </a:pPr>
            <a:r>
              <a:rPr sz="1500" b="1">
                <a:solidFill>
                  <a:srgbClr val="D71920"/>
                </a:solidFill>
                <a:latin typeface="Aptos"/>
                <a:ea typeface="Aptos"/>
                <a:cs typeface="Aptos"/>
              </a:rPr>
              <a:t>Two recorded mismatches remain. Two other cases need confirmation of the original output.</a:t>
            </a:r>
          </a:p>
        </p:txBody>
      </p:sp>
      <p:sp>
        <p:nvSpPr>
          <p:cNvPr id="5" name="text-4">
            <a:extLst xmlns:a="http://schemas.openxmlformats.org/drawingml/2006/main">
              <a:ext uri="{FF2B5EF4-FFF2-40B4-BE49-F238E27FC236}">
                <a16:creationId xmlns:a16="http://schemas.microsoft.com/office/drawing/2014/main" id="{FD1A75ED-221C-48A8-A094-B185EF1DE109}"/>
              </a:ext>
            </a:extLst>
          </p:cNvPr>
          <p:cNvSpPr>
            <a:spLocks xmlns:a="http://schemas.openxmlformats.org/drawingml/2006/main" noGrp="1"/>
          </p:cNvSpPr>
          <p:nvPr/>
        </p:nvSpPr>
        <p:spPr>
          <a:xfrm xmlns:a="http://schemas.openxmlformats.org/drawingml/2006/main">
            <a:off x="533400" y="65341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0">
                <a:solidFill>
                  <a:srgbClr val="6F6F6F"/>
                </a:solidFill>
                <a:latin typeface="Aptos"/>
                <a:ea typeface="Aptos"/>
                <a:cs typeface="Aptos"/>
              </a:defRPr>
            </a:defPPr>
            <a:lvl1pPr algn="l">
              <a:defRPr sz="900" b="0">
                <a:solidFill>
                  <a:srgbClr val="6F6F6F"/>
                </a:solidFill>
                <a:latin typeface="Aptos"/>
                <a:ea typeface="Aptos"/>
                <a:cs typeface="Aptos"/>
              </a:defRPr>
            </a:lvl1pPr>
            <a:lvl2pPr algn="l">
              <a:defRPr sz="900" b="0">
                <a:solidFill>
                  <a:srgbClr val="6F6F6F"/>
                </a:solidFill>
                <a:latin typeface="Aptos"/>
                <a:ea typeface="Aptos"/>
                <a:cs typeface="Aptos"/>
              </a:defRPr>
            </a:lvl2pPr>
            <a:lvl3pPr algn="l">
              <a:defRPr sz="900" b="0">
                <a:solidFill>
                  <a:srgbClr val="6F6F6F"/>
                </a:solidFill>
                <a:latin typeface="Aptos"/>
                <a:ea typeface="Aptos"/>
                <a:cs typeface="Aptos"/>
              </a:defRPr>
            </a:lvl3pPr>
            <a:lvl4pPr algn="l">
              <a:defRPr sz="900" b="0">
                <a:solidFill>
                  <a:srgbClr val="6F6F6F"/>
                </a:solidFill>
                <a:latin typeface="Aptos"/>
                <a:ea typeface="Aptos"/>
                <a:cs typeface="Aptos"/>
              </a:defRPr>
            </a:lvl4pPr>
            <a:lvl5pPr algn="l">
              <a:defRPr sz="900" b="0">
                <a:solidFill>
                  <a:srgbClr val="6F6F6F"/>
                </a:solidFill>
                <a:latin typeface="Aptos"/>
                <a:ea typeface="Aptos"/>
                <a:cs typeface="Aptos"/>
              </a:defRPr>
            </a:lvl5pPr>
            <a:lvl6pPr algn="l">
              <a:defRPr sz="900" b="0">
                <a:solidFill>
                  <a:srgbClr val="6F6F6F"/>
                </a:solidFill>
                <a:latin typeface="Aptos"/>
                <a:ea typeface="Aptos"/>
                <a:cs typeface="Aptos"/>
              </a:defRPr>
            </a:lvl6pPr>
            <a:lvl7pPr algn="l">
              <a:defRPr sz="900" b="0">
                <a:solidFill>
                  <a:srgbClr val="6F6F6F"/>
                </a:solidFill>
                <a:latin typeface="Aptos"/>
                <a:ea typeface="Aptos"/>
                <a:cs typeface="Aptos"/>
              </a:defRPr>
            </a:lvl7pPr>
            <a:lvl8pPr algn="l">
              <a:defRPr sz="900" b="0">
                <a:solidFill>
                  <a:srgbClr val="6F6F6F"/>
                </a:solidFill>
                <a:latin typeface="Aptos"/>
                <a:ea typeface="Aptos"/>
                <a:cs typeface="Aptos"/>
              </a:defRPr>
            </a:lvl8pPr>
            <a:lvl9pPr algn="l">
              <a:defRPr sz="900" b="0">
                <a:solidFill>
                  <a:srgbClr val="6F6F6F"/>
                </a:solidFill>
                <a:latin typeface="Aptos"/>
                <a:ea typeface="Aptos"/>
                <a:cs typeface="Aptos"/>
              </a:defRPr>
            </a:lvl9pPr>
          </a:lstStyle>
          <a:p xmlns:a="http://schemas.openxmlformats.org/drawingml/2006/main">
            <a:pPr algn="l">
              <a:buNone/>
              <a:defRPr sz="900" b="0">
                <a:solidFill>
                  <a:srgbClr val="6F6F6F"/>
                </a:solidFill>
                <a:latin typeface="Aptos"/>
                <a:ea typeface="Aptos"/>
                <a:cs typeface="Aptos"/>
              </a:defRPr>
            </a:pPr>
            <a:r>
              <a:rPr sz="900" b="0">
                <a:solidFill>
                  <a:srgbClr val="6F6F6F"/>
                </a:solidFill>
                <a:latin typeface="Aptos"/>
                <a:ea typeface="Aptos"/>
                <a:cs typeface="Aptos"/>
              </a:rPr>
              <a:t>Medicare · AMA evaluation · 20 October 2026</a:t>
            </a:r>
          </a:p>
        </p:txBody>
      </p:sp>
      <p:sp>
        <p:nvSpPr>
          <p:cNvPr id="6" name="text-5">
            <a:extLst xmlns:a="http://schemas.openxmlformats.org/drawingml/2006/main">
              <a:ext uri="{FF2B5EF4-FFF2-40B4-BE49-F238E27FC236}">
                <a16:creationId xmlns:a16="http://schemas.microsoft.com/office/drawing/2014/main" id="{398D2992-5F29-438D-B1BA-F64FE2C26926}"/>
              </a:ext>
            </a:extLst>
          </p:cNvPr>
          <p:cNvSpPr>
            <a:spLocks xmlns:a="http://schemas.openxmlformats.org/drawingml/2006/main" noGrp="1"/>
          </p:cNvSpPr>
          <p:nvPr/>
        </p:nvSpPr>
        <p:spPr>
          <a:xfrm xmlns:a="http://schemas.openxmlformats.org/drawingml/2006/main">
            <a:off x="11239500"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0">
                <a:solidFill>
                  <a:srgbClr val="6F6F6F"/>
                </a:solidFill>
                <a:latin typeface="Aptos"/>
                <a:ea typeface="Aptos"/>
                <a:cs typeface="Aptos"/>
              </a:defRPr>
            </a:defPPr>
            <a:lvl1pPr algn="l">
              <a:defRPr sz="900" b="0">
                <a:solidFill>
                  <a:srgbClr val="6F6F6F"/>
                </a:solidFill>
                <a:latin typeface="Aptos"/>
                <a:ea typeface="Aptos"/>
                <a:cs typeface="Aptos"/>
              </a:defRPr>
            </a:lvl1pPr>
            <a:lvl2pPr algn="l">
              <a:defRPr sz="900" b="0">
                <a:solidFill>
                  <a:srgbClr val="6F6F6F"/>
                </a:solidFill>
                <a:latin typeface="Aptos"/>
                <a:ea typeface="Aptos"/>
                <a:cs typeface="Aptos"/>
              </a:defRPr>
            </a:lvl2pPr>
            <a:lvl3pPr algn="l">
              <a:defRPr sz="900" b="0">
                <a:solidFill>
                  <a:srgbClr val="6F6F6F"/>
                </a:solidFill>
                <a:latin typeface="Aptos"/>
                <a:ea typeface="Aptos"/>
                <a:cs typeface="Aptos"/>
              </a:defRPr>
            </a:lvl3pPr>
            <a:lvl4pPr algn="l">
              <a:defRPr sz="900" b="0">
                <a:solidFill>
                  <a:srgbClr val="6F6F6F"/>
                </a:solidFill>
                <a:latin typeface="Aptos"/>
                <a:ea typeface="Aptos"/>
                <a:cs typeface="Aptos"/>
              </a:defRPr>
            </a:lvl4pPr>
            <a:lvl5pPr algn="l">
              <a:defRPr sz="900" b="0">
                <a:solidFill>
                  <a:srgbClr val="6F6F6F"/>
                </a:solidFill>
                <a:latin typeface="Aptos"/>
                <a:ea typeface="Aptos"/>
                <a:cs typeface="Aptos"/>
              </a:defRPr>
            </a:lvl5pPr>
            <a:lvl6pPr algn="l">
              <a:defRPr sz="900" b="0">
                <a:solidFill>
                  <a:srgbClr val="6F6F6F"/>
                </a:solidFill>
                <a:latin typeface="Aptos"/>
                <a:ea typeface="Aptos"/>
                <a:cs typeface="Aptos"/>
              </a:defRPr>
            </a:lvl6pPr>
            <a:lvl7pPr algn="l">
              <a:defRPr sz="900" b="0">
                <a:solidFill>
                  <a:srgbClr val="6F6F6F"/>
                </a:solidFill>
                <a:latin typeface="Aptos"/>
                <a:ea typeface="Aptos"/>
                <a:cs typeface="Aptos"/>
              </a:defRPr>
            </a:lvl7pPr>
            <a:lvl8pPr algn="l">
              <a:defRPr sz="900" b="0">
                <a:solidFill>
                  <a:srgbClr val="6F6F6F"/>
                </a:solidFill>
                <a:latin typeface="Aptos"/>
                <a:ea typeface="Aptos"/>
                <a:cs typeface="Aptos"/>
              </a:defRPr>
            </a:lvl8pPr>
            <a:lvl9pPr algn="l">
              <a:defRPr sz="900" b="0">
                <a:solidFill>
                  <a:srgbClr val="6F6F6F"/>
                </a:solidFill>
                <a:latin typeface="Aptos"/>
                <a:ea typeface="Aptos"/>
                <a:cs typeface="Aptos"/>
              </a:defRPr>
            </a:lvl9pPr>
          </a:lstStyle>
          <a:p xmlns:a="http://schemas.openxmlformats.org/drawingml/2006/main">
            <a:pPr algn="l">
              <a:buNone/>
              <a:defRPr sz="900" b="0">
                <a:solidFill>
                  <a:srgbClr val="6F6F6F"/>
                </a:solidFill>
                <a:latin typeface="Aptos"/>
                <a:ea typeface="Aptos"/>
                <a:cs typeface="Aptos"/>
              </a:defRPr>
            </a:pPr>
            <a:r>
              <a:rPr sz="900" b="0">
                <a:solidFill>
                  <a:srgbClr val="6F6F6F"/>
                </a:solidFill>
                <a:latin typeface="Aptos"/>
                <a:ea typeface="Aptos"/>
                <a:cs typeface="Aptos"/>
              </a:rPr>
              <a:t>2</a:t>
            </a:r>
          </a:p>
        </p:txBody>
      </p:sp>
      <p:sp>
        <p:nvSpPr>
          <p:cNvPr id="16" name="question-set-scope">
            <a:extLst xmlns:a="http://schemas.openxmlformats.org/drawingml/2006/main">
              <a:ext uri="{FF2B5EF4-FFF2-40B4-BE49-F238E27FC236}">
                <a16:creationId xmlns:a16="http://schemas.microsoft.com/office/drawing/2014/main" id="{07DF0BC7-5888-40ED-98A8-AB3B2B5D2D65}"/>
              </a:ext>
            </a:extLst>
          </p:cNvPr>
          <p:cNvSpPr>
            <a:spLocks xmlns:a="http://schemas.openxmlformats.org/drawingml/2006/main" noGrp="1"/>
          </p:cNvSpPr>
          <p:nvPr/>
        </p:nvSpPr>
        <p:spPr>
          <a:xfrm xmlns:a="http://schemas.openxmlformats.org/drawingml/2006/main">
            <a:off x="533400" y="1724025"/>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323232"/>
                </a:solidFill>
                <a:latin typeface="Aptos"/>
                <a:ea typeface="Aptos"/>
                <a:cs typeface="Aptos"/>
              </a:defRPr>
            </a:defPPr>
            <a:lvl1pPr algn="l">
              <a:defRPr sz="1275" b="0">
                <a:solidFill>
                  <a:srgbClr val="323232"/>
                </a:solidFill>
                <a:latin typeface="Aptos"/>
                <a:ea typeface="Aptos"/>
                <a:cs typeface="Aptos"/>
              </a:defRPr>
            </a:lvl1pPr>
            <a:lvl2pPr algn="l">
              <a:defRPr sz="1275" b="0">
                <a:solidFill>
                  <a:srgbClr val="323232"/>
                </a:solidFill>
                <a:latin typeface="Aptos"/>
                <a:ea typeface="Aptos"/>
                <a:cs typeface="Aptos"/>
              </a:defRPr>
            </a:lvl2pPr>
            <a:lvl3pPr algn="l">
              <a:defRPr sz="1275" b="0">
                <a:solidFill>
                  <a:srgbClr val="323232"/>
                </a:solidFill>
                <a:latin typeface="Aptos"/>
                <a:ea typeface="Aptos"/>
                <a:cs typeface="Aptos"/>
              </a:defRPr>
            </a:lvl3pPr>
            <a:lvl4pPr algn="l">
              <a:defRPr sz="1275" b="0">
                <a:solidFill>
                  <a:srgbClr val="323232"/>
                </a:solidFill>
                <a:latin typeface="Aptos"/>
                <a:ea typeface="Aptos"/>
                <a:cs typeface="Aptos"/>
              </a:defRPr>
            </a:lvl4pPr>
            <a:lvl5pPr algn="l">
              <a:defRPr sz="1275" b="0">
                <a:solidFill>
                  <a:srgbClr val="323232"/>
                </a:solidFill>
                <a:latin typeface="Aptos"/>
                <a:ea typeface="Aptos"/>
                <a:cs typeface="Aptos"/>
              </a:defRPr>
            </a:lvl5pPr>
            <a:lvl6pPr algn="l">
              <a:defRPr sz="1275" b="0">
                <a:solidFill>
                  <a:srgbClr val="323232"/>
                </a:solidFill>
                <a:latin typeface="Aptos"/>
                <a:ea typeface="Aptos"/>
                <a:cs typeface="Aptos"/>
              </a:defRPr>
            </a:lvl6pPr>
            <a:lvl7pPr algn="l">
              <a:defRPr sz="1275" b="0">
                <a:solidFill>
                  <a:srgbClr val="323232"/>
                </a:solidFill>
                <a:latin typeface="Aptos"/>
                <a:ea typeface="Aptos"/>
                <a:cs typeface="Aptos"/>
              </a:defRPr>
            </a:lvl7pPr>
            <a:lvl8pPr algn="l">
              <a:defRPr sz="1275" b="0">
                <a:solidFill>
                  <a:srgbClr val="323232"/>
                </a:solidFill>
                <a:latin typeface="Aptos"/>
                <a:ea typeface="Aptos"/>
                <a:cs typeface="Aptos"/>
              </a:defRPr>
            </a:lvl8pPr>
            <a:lvl9pPr algn="l">
              <a:defRPr sz="1275" b="0">
                <a:solidFill>
                  <a:srgbClr val="323232"/>
                </a:solidFill>
                <a:latin typeface="Aptos"/>
                <a:ea typeface="Aptos"/>
                <a:cs typeface="Aptos"/>
              </a:defRPr>
            </a:lvl9pPr>
          </a:lstStyle>
          <a:p xmlns:a="http://schemas.openxmlformats.org/drawingml/2006/main">
            <a:pPr algn="l">
              <a:defRPr sz="1275" b="0">
                <a:solidFill>
                  <a:srgbClr val="323232"/>
                </a:solidFill>
                <a:latin typeface="Aptos"/>
                <a:ea typeface="Aptos"/>
                <a:cs typeface="Aptos"/>
              </a:defRPr>
            </a:pPr>
            <a:r>
              <a:rPr sz="1275" b="0">
                <a:solidFill>
                  <a:srgbClr val="323232"/>
                </a:solidFill>
                <a:latin typeface="Aptos"/>
                <a:ea typeface="Aptos"/>
                <a:cs typeface="Aptos"/>
              </a:rPr>
              <a:t>66 questions cover volumes, answered and abandoned calls, time, SLA, historical comparisons and data availability.</a:t>
            </a:r>
          </a:p>
        </p:txBody>
      </p:sp>
      <p:graphicFrame>
        <p:nvGraphicFramePr>
          <p:cNvPr id="17" name="">
            <a:extLst xmlns:a="http://schemas.openxmlformats.org/drawingml/2006/main">
              <a:ext uri="{FF2B5EF4-FFF2-40B4-BE49-F238E27FC236}">
                <a16:creationId xmlns:a16="http://schemas.microsoft.com/office/drawing/2014/main" id="{FE55F468-52D2-4F9B-8F81-1A0B5621ACE4}"/>
              </a:ext>
            </a:extLst>
          </p:cNvPr>
          <p:cNvGraphicFramePr/>
          <p:nvPr/>
        </p:nvGraphicFramePr>
        <p:xfrm>
          <a:off xmlns:a="http://schemas.openxmlformats.org/drawingml/2006/main" x="533400" y="2095500"/>
          <a:ext xmlns:a="http://schemas.openxmlformats.org/drawingml/2006/main" cx="11125200" cy="3200400"/>
        </p:xfrm>
        <a:graphic xmlns:a="http://schemas.openxmlformats.org/drawingml/2006/main">
          <a:graphicData uri="http://schemas.openxmlformats.org/drawingml/2006/table">
            <a:tbl>
              <a:tblPr firstRow="0" bandRow="0"/>
              <a:tblGrid>
                <a:gridCol w="666750"/>
                <a:gridCol w="2686050"/>
                <a:gridCol w="2857500"/>
                <a:gridCol w="2895600"/>
                <a:gridCol w="2019300"/>
              </a:tblGrid>
              <a:tr h="342900">
                <a:tc>
                  <a:txBody>
                    <a:bodyPr lIns="85725" tIns="66675" rIns="85725" bIns="66675">
                      <a:noAutofit/>
                    </a:bodyPr>
                    <a:lstStyle/>
                    <a:p>
                      <a:pPr algn="l"/>
                      <a:r>
                        <a:rPr sz="1200" b="1">
                          <a:solidFill>
                            <a:srgbClr val="FFFFFF"/>
                          </a:solidFill>
                          <a:latin typeface="Aptos"/>
                          <a:ea typeface="Aptos"/>
                          <a:cs typeface="Aptos"/>
                        </a:rPr>
                        <a:t>Test</a:t>
                      </a:r>
                    </a:p>
                  </a:txBody>
                  <a:tcPr marL="91440" marR="91440" marT="45720" marB="45720" anchor="t">
                    <a:lnL w="5715">
                      <a:solidFill>
                        <a:srgbClr val="E8E8E8"/>
                      </a:solidFill>
                      <a:prstDash val="solid"/>
                    </a:lnL>
                    <a:lnR w="5715">
                      <a:solidFill>
                        <a:srgbClr val="E8E8E8"/>
                      </a:solidFill>
                      <a:prstDash val="solid"/>
                    </a:lnR>
                    <a:lnT w="5715">
                      <a:solidFill>
                        <a:srgbClr val="E8E8E8"/>
                      </a:solidFill>
                      <a:prstDash val="solid"/>
                    </a:lnT>
                    <a:lnB w="5715">
                      <a:solidFill>
                        <a:srgbClr val="E8E8E8"/>
                      </a:solidFill>
                      <a:prstDash val="solid"/>
                    </a:lnB>
                    <a:solidFill>
                      <a:srgbClr val="323232"/>
                    </a:solidFill>
                  </a:tcPr>
                </a:tc>
                <a:tc>
                  <a:txBody>
                    <a:bodyPr lIns="85725" tIns="66675" rIns="85725" bIns="66675">
                      <a:noAutofit/>
                    </a:bodyPr>
                    <a:lstStyle/>
                    <a:p>
                      <a:pPr algn="l"/>
                      <a:r>
                        <a:rPr sz="1200" b="1">
                          <a:solidFill>
                            <a:srgbClr val="FFFFFF"/>
                          </a:solidFill>
                          <a:latin typeface="Aptos"/>
                          <a:ea typeface="Aptos"/>
                          <a:cs typeface="Aptos"/>
                        </a:rPr>
                        <a:t>Question (summary)</a:t>
                      </a:r>
                    </a:p>
                  </a:txBody>
                  <a:tcPr marL="91440" marR="91440" marT="45720" marB="45720" anchor="t">
                    <a:lnR w="5715">
                      <a:solidFill>
                        <a:srgbClr val="E8E8E8"/>
                      </a:solidFill>
                      <a:prstDash val="solid"/>
                    </a:lnR>
                    <a:lnT w="5715">
                      <a:solidFill>
                        <a:srgbClr val="E8E8E8"/>
                      </a:solidFill>
                      <a:prstDash val="solid"/>
                    </a:lnT>
                    <a:lnB w="5715">
                      <a:solidFill>
                        <a:srgbClr val="E8E8E8"/>
                      </a:solidFill>
                      <a:prstDash val="solid"/>
                    </a:lnB>
                    <a:solidFill>
                      <a:srgbClr val="D71920"/>
                    </a:solidFill>
                  </a:tcPr>
                </a:tc>
                <a:tc>
                  <a:txBody>
                    <a:bodyPr lIns="85725" tIns="66675" rIns="85725" bIns="66675">
                      <a:noAutofit/>
                    </a:bodyPr>
                    <a:lstStyle/>
                    <a:p>
                      <a:pPr algn="l"/>
                      <a:r>
                        <a:rPr sz="1200" b="1">
                          <a:solidFill>
                            <a:srgbClr val="FFFFFF"/>
                          </a:solidFill>
                          <a:latin typeface="Aptos"/>
                          <a:ea typeface="Aptos"/>
                          <a:cs typeface="Aptos"/>
                        </a:rPr>
                        <a:t>Validation criterion (summary)</a:t>
                      </a:r>
                    </a:p>
                  </a:txBody>
                  <a:tcPr marL="91440" marR="91440" marT="45720" marB="45720" anchor="t">
                    <a:lnR w="5715">
                      <a:solidFill>
                        <a:srgbClr val="E8E8E8"/>
                      </a:solidFill>
                      <a:prstDash val="solid"/>
                    </a:lnR>
                    <a:lnT w="5715">
                      <a:solidFill>
                        <a:srgbClr val="E8E8E8"/>
                      </a:solidFill>
                      <a:prstDash val="solid"/>
                    </a:lnT>
                    <a:lnB w="5715">
                      <a:solidFill>
                        <a:srgbClr val="E8E8E8"/>
                      </a:solidFill>
                      <a:prstDash val="solid"/>
                    </a:lnB>
                    <a:solidFill>
                      <a:srgbClr val="D71920"/>
                    </a:solidFill>
                  </a:tcPr>
                </a:tc>
                <a:tc>
                  <a:txBody>
                    <a:bodyPr lIns="85725" tIns="66675" rIns="85725" bIns="66675">
                      <a:noAutofit/>
                    </a:bodyPr>
                    <a:lstStyle/>
                    <a:p>
                      <a:pPr algn="l"/>
                      <a:r>
                        <a:rPr sz="1200" b="1">
                          <a:solidFill>
                            <a:srgbClr val="FFFFFF"/>
                          </a:solidFill>
                          <a:latin typeface="Aptos"/>
                          <a:ea typeface="Aptos"/>
                          <a:cs typeface="Aptos"/>
                        </a:rPr>
                        <a:t>Recorded response</a:t>
                      </a:r>
                    </a:p>
                  </a:txBody>
                  <a:tcPr marL="91440" marR="91440" marT="45720" marB="45720" anchor="t">
                    <a:lnR w="5715">
                      <a:solidFill>
                        <a:srgbClr val="E8E8E8"/>
                      </a:solidFill>
                      <a:prstDash val="solid"/>
                    </a:lnR>
                    <a:lnT w="5715">
                      <a:solidFill>
                        <a:srgbClr val="E8E8E8"/>
                      </a:solidFill>
                      <a:prstDash val="solid"/>
                    </a:lnT>
                    <a:lnB w="5715">
                      <a:solidFill>
                        <a:srgbClr val="E8E8E8"/>
                      </a:solidFill>
                      <a:prstDash val="solid"/>
                    </a:lnB>
                    <a:solidFill>
                      <a:srgbClr val="D71920"/>
                    </a:solidFill>
                  </a:tcPr>
                </a:tc>
                <a:tc>
                  <a:txBody>
                    <a:bodyPr lIns="85725" tIns="66675" rIns="85725" bIns="66675">
                      <a:noAutofit/>
                    </a:bodyPr>
                    <a:lstStyle/>
                    <a:p>
                      <a:pPr algn="l"/>
                      <a:r>
                        <a:rPr sz="1200" b="1">
                          <a:solidFill>
                            <a:srgbClr val="FFFFFF"/>
                          </a:solidFill>
                          <a:latin typeface="Aptos"/>
                          <a:ea typeface="Aptos"/>
                          <a:cs typeface="Aptos"/>
                        </a:rPr>
                        <a:t>Assessment</a:t>
                      </a:r>
                    </a:p>
                  </a:txBody>
                  <a:tcPr marL="91440" marR="91440" marT="45720" marB="45720" anchor="t">
                    <a:lnR w="5715">
                      <a:solidFill>
                        <a:srgbClr val="E8E8E8"/>
                      </a:solidFill>
                      <a:prstDash val="solid"/>
                    </a:lnR>
                    <a:lnT w="5715">
                      <a:solidFill>
                        <a:srgbClr val="E8E8E8"/>
                      </a:solidFill>
                      <a:prstDash val="solid"/>
                    </a:lnT>
                    <a:lnB w="5715">
                      <a:solidFill>
                        <a:srgbClr val="E8E8E8"/>
                      </a:solidFill>
                      <a:prstDash val="solid"/>
                    </a:lnB>
                    <a:solidFill>
                      <a:srgbClr val="D71920"/>
                    </a:solidFill>
                  </a:tcPr>
                </a:tc>
              </a:tr>
              <a:tr h="714375">
                <a:tc>
                  <a:txBody>
                    <a:bodyPr lIns="85725" tIns="66675" rIns="85725" bIns="66675">
                      <a:noAutofit/>
                    </a:bodyPr>
                    <a:lstStyle/>
                    <a:p>
                      <a:pPr algn="l"/>
                      <a:r>
                        <a:rPr sz="1200" b="0">
                          <a:solidFill>
                            <a:srgbClr val="323232"/>
                          </a:solidFill>
                          <a:latin typeface="Aptos"/>
                          <a:ea typeface="Aptos"/>
                          <a:cs typeface="Aptos"/>
                        </a:rPr>
                        <a:t>Q41</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200" b="0">
                          <a:solidFill>
                            <a:srgbClr val="323232"/>
                          </a:solidFill>
                          <a:latin typeface="Aptos"/>
                          <a:ea typeface="Aptos"/>
                          <a:cs typeface="Aptos"/>
                        </a:rPr>
                        <a:t>Year-on-year change in INB gross received calls, Aug 2025 to Aug 2026.</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200" b="0">
                          <a:solidFill>
                            <a:srgbClr val="323232"/>
                          </a:solidFill>
                          <a:latin typeface="Aptos"/>
                          <a:ea typeface="Aptos"/>
                          <a:cs typeface="Aptos"/>
                        </a:rPr>
                        <a:t>Same scope in both periods. Current / reference − 1, two decimals. Expected −8.83%.</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200" b="0">
                          <a:solidFill>
                            <a:srgbClr val="323232"/>
                          </a:solidFill>
                          <a:latin typeface="Aptos"/>
                          <a:ea typeface="Aptos"/>
                          <a:cs typeface="Aptos"/>
                        </a:rPr>
                        <a:t>+8.83% in both response columns.</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200" b="1">
                          <a:solidFill>
                            <a:srgbClr val="D71920"/>
                          </a:solidFill>
                          <a:latin typeface="Aptos"/>
                          <a:ea typeface="Aptos"/>
                          <a:cs typeface="Aptos"/>
                        </a:rPr>
                        <a:t>Non-conformant</a:t>
                      </a:r>
                    </a:p>
                    <a:p>
                      <a:pPr algn="l"/>
                      <a:r>
                        <a:rPr sz="1200" b="1">
                          <a:solidFill>
                            <a:srgbClr val="D71920"/>
                          </a:solidFill>
                          <a:latin typeface="Aptos"/>
                          <a:ea typeface="Aptos"/>
                          <a:cs typeface="Aptos"/>
                        </a:rPr>
                        <a:t>Opposite sign.</a:t>
                      </a:r>
                    </a:p>
                  </a:txBody>
                  <a:tcPr marL="91440" marR="91440" marT="45720" marB="45720" anchor="t">
                    <a:lnR w="5715">
                      <a:solidFill>
                        <a:srgbClr val="E8E8E8"/>
                      </a:solidFill>
                      <a:prstDash val="solid"/>
                    </a:lnR>
                    <a:lnB w="5715">
                      <a:solidFill>
                        <a:srgbClr val="E8E8E8"/>
                      </a:solidFill>
                      <a:prstDash val="solid"/>
                    </a:lnB>
                    <a:solidFill>
                      <a:srgbClr val="FFFFFF"/>
                    </a:solidFill>
                  </a:tcPr>
                </a:tc>
              </a:tr>
              <a:tr h="714375">
                <a:tc>
                  <a:txBody>
                    <a:bodyPr lIns="85725" tIns="66675" rIns="85725" bIns="66675">
                      <a:noAutofit/>
                    </a:bodyPr>
                    <a:lstStyle/>
                    <a:p>
                      <a:pPr algn="l"/>
                      <a:r>
                        <a:rPr sz="1200" b="0">
                          <a:solidFill>
                            <a:srgbClr val="323232"/>
                          </a:solidFill>
                          <a:latin typeface="Aptos"/>
                          <a:ea typeface="Aptos"/>
                          <a:cs typeface="Aptos"/>
                        </a:rPr>
                        <a:t>Q54</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200" b="0">
                          <a:solidFill>
                            <a:srgbClr val="323232"/>
                          </a:solidFill>
                          <a:latin typeface="Aptos"/>
                          <a:ea typeface="Aptos"/>
                          <a:cs typeface="Aptos"/>
                        </a:rPr>
                        <a:t>INB + ENG gross received calls in August 2024.</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200" b="0">
                          <a:solidFill>
                            <a:srgbClr val="323232"/>
                          </a:solidFill>
                          <a:latin typeface="Aptos"/>
                          <a:ea typeface="Aptos"/>
                          <a:cs typeface="Aptos"/>
                        </a:rPr>
                        <a:t>Count each eligible queue-entry SessionID once in the union. Expected 38,858.</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200" b="0">
                          <a:solidFill>
                            <a:srgbClr val="323232"/>
                          </a:solidFill>
                          <a:latin typeface="Aptos"/>
                          <a:ea typeface="Aptos"/>
                          <a:cs typeface="Aptos"/>
                        </a:rPr>
                        <a:t>38,861 in both response columns. Difference: +3 sessions.</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200" b="1">
                          <a:solidFill>
                            <a:srgbClr val="D71920"/>
                          </a:solidFill>
                          <a:latin typeface="Aptos"/>
                          <a:ea typeface="Aptos"/>
                          <a:cs typeface="Aptos"/>
                        </a:rPr>
                        <a:t>Non-conformant</a:t>
                      </a:r>
                    </a:p>
                    <a:p>
                      <a:pPr algn="l"/>
                      <a:r>
                        <a:rPr sz="1200" b="1">
                          <a:solidFill>
                            <a:srgbClr val="D71920"/>
                          </a:solidFill>
                          <a:latin typeface="Aptos"/>
                          <a:ea typeface="Aptos"/>
                          <a:cs typeface="Aptos"/>
                        </a:rPr>
                        <a:t>Count mismatch.</a:t>
                      </a:r>
                    </a:p>
                  </a:txBody>
                  <a:tcPr marL="91440" marR="91440" marT="45720" marB="45720" anchor="t">
                    <a:lnR w="5715">
                      <a:solidFill>
                        <a:srgbClr val="E8E8E8"/>
                      </a:solidFill>
                      <a:prstDash val="solid"/>
                    </a:lnR>
                    <a:lnB w="5715">
                      <a:solidFill>
                        <a:srgbClr val="E8E8E8"/>
                      </a:solidFill>
                      <a:prstDash val="solid"/>
                    </a:lnB>
                    <a:solidFill>
                      <a:srgbClr val="F6F6F6"/>
                    </a:solidFill>
                  </a:tcPr>
                </a:tc>
              </a:tr>
              <a:tr h="714375">
                <a:tc>
                  <a:txBody>
                    <a:bodyPr lIns="85725" tIns="66675" rIns="85725" bIns="66675">
                      <a:noAutofit/>
                    </a:bodyPr>
                    <a:lstStyle/>
                    <a:p>
                      <a:pPr algn="l"/>
                      <a:r>
                        <a:rPr sz="1200" b="0">
                          <a:solidFill>
                            <a:srgbClr val="323232"/>
                          </a:solidFill>
                          <a:latin typeface="Aptos"/>
                          <a:ea typeface="Aptos"/>
                          <a:cs typeface="Aptos"/>
                        </a:rPr>
                        <a:t>Q21</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200" b="0">
                          <a:solidFill>
                            <a:srgbClr val="323232"/>
                          </a:solidFill>
                          <a:latin typeface="Aptos"/>
                          <a:ea typeface="Aptos"/>
                          <a:cs typeface="Aptos"/>
                        </a:rPr>
                        <a:t>INB average speed of answer (ASA), August 2026, in seconds.</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200" b="0">
                          <a:solidFill>
                            <a:srgbClr val="323232"/>
                          </a:solidFill>
                          <a:latin typeface="Aptos"/>
                          <a:ea typeface="Aptos"/>
                          <a:cs typeface="Aptos"/>
                        </a:rPr>
                        <a:t>Answered sessions only; wait to first answer, two decimals. Reference 16.59 s.</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200" b="0">
                          <a:solidFill>
                            <a:srgbClr val="323232"/>
                          </a:solidFill>
                          <a:latin typeface="Aptos"/>
                          <a:ea typeface="Aptos"/>
                          <a:cs typeface="Aptos"/>
                        </a:rPr>
                        <a:t>Excel stores 0.166 and displays 16.60%. Confirm the original AMA answer.</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200" b="1">
                          <a:solidFill>
                            <a:srgbClr val="8A5500"/>
                          </a:solidFill>
                          <a:latin typeface="Aptos"/>
                          <a:ea typeface="Aptos"/>
                          <a:cs typeface="Aptos"/>
                        </a:rPr>
                        <a:t>Review recording</a:t>
                      </a:r>
                    </a:p>
                    <a:p>
                      <a:pPr algn="l"/>
                      <a:r>
                        <a:rPr sz="1200" b="1">
                          <a:solidFill>
                            <a:srgbClr val="8A5500"/>
                          </a:solidFill>
                          <a:latin typeface="Aptos"/>
                          <a:ea typeface="Aptos"/>
                          <a:cs typeface="Aptos"/>
                        </a:rPr>
                        <a:t>Confirm unit.</a:t>
                      </a:r>
                    </a:p>
                  </a:txBody>
                  <a:tcPr marL="91440" marR="91440" marT="45720" marB="45720" anchor="t">
                    <a:lnR w="5715">
                      <a:solidFill>
                        <a:srgbClr val="E8E8E8"/>
                      </a:solidFill>
                      <a:prstDash val="solid"/>
                    </a:lnR>
                    <a:lnB w="5715">
                      <a:solidFill>
                        <a:srgbClr val="E8E8E8"/>
                      </a:solidFill>
                      <a:prstDash val="solid"/>
                    </a:lnB>
                    <a:solidFill>
                      <a:srgbClr val="FFFFFF"/>
                    </a:solidFill>
                  </a:tcPr>
                </a:tc>
              </a:tr>
              <a:tr h="714375">
                <a:tc>
                  <a:txBody>
                    <a:bodyPr lIns="85725" tIns="66675" rIns="85725" bIns="66675">
                      <a:noAutofit/>
                    </a:bodyPr>
                    <a:lstStyle/>
                    <a:p>
                      <a:pPr algn="l"/>
                      <a:r>
                        <a:rPr sz="1200" b="0">
                          <a:solidFill>
                            <a:srgbClr val="323232"/>
                          </a:solidFill>
                          <a:latin typeface="Aptos"/>
                          <a:ea typeface="Aptos"/>
                          <a:cs typeface="Aptos"/>
                        </a:rPr>
                        <a:t>Q42</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200" b="0">
                          <a:solidFill>
                            <a:srgbClr val="323232"/>
                          </a:solidFill>
                          <a:latin typeface="Aptos"/>
                          <a:ea typeface="Aptos"/>
                          <a:cs typeface="Aptos"/>
                        </a:rPr>
                        <a:t>Year-on-year change in INB + ENG gross received calls, Aug 2025 to Aug 2026.</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200" b="0">
                          <a:solidFill>
                            <a:srgbClr val="323232"/>
                          </a:solidFill>
                          <a:latin typeface="Aptos"/>
                          <a:ea typeface="Aptos"/>
                          <a:cs typeface="Aptos"/>
                        </a:rPr>
                        <a:t>Same scope in both periods. Current / reference − 1, two decimals. Expected −8.71%.</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200" b="0">
                          <a:solidFill>
                            <a:srgbClr val="323232"/>
                          </a:solidFill>
                          <a:latin typeface="Aptos"/>
                          <a:ea typeface="Aptos"/>
                          <a:cs typeface="Aptos"/>
                        </a:rPr>
                        <a:t>Recorded −9% in a whole-percent cell; consistent with rounding.</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200" b="1">
                          <a:solidFill>
                            <a:srgbClr val="8A5500"/>
                          </a:solidFill>
                          <a:latin typeface="Aptos"/>
                          <a:ea typeface="Aptos"/>
                          <a:cs typeface="Aptos"/>
                        </a:rPr>
                        <a:t>Review recording</a:t>
                      </a:r>
                    </a:p>
                    <a:p>
                      <a:pPr algn="l"/>
                      <a:r>
                        <a:rPr sz="1200" b="1">
                          <a:solidFill>
                            <a:srgbClr val="8A5500"/>
                          </a:solidFill>
                          <a:latin typeface="Aptos"/>
                          <a:ea typeface="Aptos"/>
                          <a:cs typeface="Aptos"/>
                        </a:rPr>
                        <a:t>Confirm precision.</a:t>
                      </a:r>
                    </a:p>
                  </a:txBody>
                  <a:tcPr marL="91440" marR="91440" marT="45720" marB="45720" anchor="t">
                    <a:lnR w="5715">
                      <a:solidFill>
                        <a:srgbClr val="E8E8E8"/>
                      </a:solidFill>
                      <a:prstDash val="solid"/>
                    </a:lnR>
                    <a:lnB w="5715">
                      <a:solidFill>
                        <a:srgbClr val="E8E8E8"/>
                      </a:solidFill>
                      <a:prstDash val="solid"/>
                    </a:lnB>
                    <a:solidFill>
                      <a:srgbClr val="F6F6F6"/>
                    </a:solidFill>
                  </a:tcPr>
                </a:tc>
              </a:tr>
            </a:tbl>
          </a:graphicData>
        </a:graphic>
      </p:graphicFrame>
      <p:sp>
        <p:nvSpPr>
          <p:cNvPr id="18" name="run-comparison">
            <a:extLst xmlns:a="http://schemas.openxmlformats.org/drawingml/2006/main">
              <a:ext uri="{FF2B5EF4-FFF2-40B4-BE49-F238E27FC236}">
                <a16:creationId xmlns:a16="http://schemas.microsoft.com/office/drawing/2014/main" id="{BD33D72C-F983-4963-A92C-DCEB43FF386F}"/>
              </a:ext>
            </a:extLst>
          </p:cNvPr>
          <p:cNvSpPr>
            <a:spLocks xmlns:a="http://schemas.openxmlformats.org/drawingml/2006/main" noGrp="1"/>
          </p:cNvSpPr>
          <p:nvPr/>
        </p:nvSpPr>
        <p:spPr>
          <a:xfrm xmlns:a="http://schemas.openxmlformats.org/drawingml/2006/main">
            <a:off x="533400" y="5467350"/>
            <a:ext cx="11125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323232"/>
                </a:solidFill>
                <a:latin typeface="Aptos"/>
                <a:ea typeface="Aptos"/>
                <a:cs typeface="Aptos"/>
              </a:defRPr>
            </a:defPPr>
            <a:lvl1pPr algn="l">
              <a:defRPr sz="1275" b="0">
                <a:solidFill>
                  <a:srgbClr val="323232"/>
                </a:solidFill>
                <a:latin typeface="Aptos"/>
                <a:ea typeface="Aptos"/>
                <a:cs typeface="Aptos"/>
              </a:defRPr>
            </a:lvl1pPr>
            <a:lvl2pPr algn="l">
              <a:defRPr sz="1275" b="0">
                <a:solidFill>
                  <a:srgbClr val="323232"/>
                </a:solidFill>
                <a:latin typeface="Aptos"/>
                <a:ea typeface="Aptos"/>
                <a:cs typeface="Aptos"/>
              </a:defRPr>
            </a:lvl2pPr>
            <a:lvl3pPr algn="l">
              <a:defRPr sz="1275" b="0">
                <a:solidFill>
                  <a:srgbClr val="323232"/>
                </a:solidFill>
                <a:latin typeface="Aptos"/>
                <a:ea typeface="Aptos"/>
                <a:cs typeface="Aptos"/>
              </a:defRPr>
            </a:lvl3pPr>
            <a:lvl4pPr algn="l">
              <a:defRPr sz="1275" b="0">
                <a:solidFill>
                  <a:srgbClr val="323232"/>
                </a:solidFill>
                <a:latin typeface="Aptos"/>
                <a:ea typeface="Aptos"/>
                <a:cs typeface="Aptos"/>
              </a:defRPr>
            </a:lvl4pPr>
            <a:lvl5pPr algn="l">
              <a:defRPr sz="1275" b="0">
                <a:solidFill>
                  <a:srgbClr val="323232"/>
                </a:solidFill>
                <a:latin typeface="Aptos"/>
                <a:ea typeface="Aptos"/>
                <a:cs typeface="Aptos"/>
              </a:defRPr>
            </a:lvl5pPr>
            <a:lvl6pPr algn="l">
              <a:defRPr sz="1275" b="0">
                <a:solidFill>
                  <a:srgbClr val="323232"/>
                </a:solidFill>
                <a:latin typeface="Aptos"/>
                <a:ea typeface="Aptos"/>
                <a:cs typeface="Aptos"/>
              </a:defRPr>
            </a:lvl6pPr>
            <a:lvl7pPr algn="l">
              <a:defRPr sz="1275" b="0">
                <a:solidFill>
                  <a:srgbClr val="323232"/>
                </a:solidFill>
                <a:latin typeface="Aptos"/>
                <a:ea typeface="Aptos"/>
                <a:cs typeface="Aptos"/>
              </a:defRPr>
            </a:lvl7pPr>
            <a:lvl8pPr algn="l">
              <a:defRPr sz="1275" b="0">
                <a:solidFill>
                  <a:srgbClr val="323232"/>
                </a:solidFill>
                <a:latin typeface="Aptos"/>
                <a:ea typeface="Aptos"/>
                <a:cs typeface="Aptos"/>
              </a:defRPr>
            </a:lvl8pPr>
            <a:lvl9pPr algn="l">
              <a:defRPr sz="1275" b="0">
                <a:solidFill>
                  <a:srgbClr val="323232"/>
                </a:solidFill>
                <a:latin typeface="Aptos"/>
                <a:ea typeface="Aptos"/>
                <a:cs typeface="Aptos"/>
              </a:defRPr>
            </a:lvl9pPr>
          </a:lstStyle>
          <a:p xmlns:a="http://schemas.openxmlformats.org/drawingml/2006/main">
            <a:pPr algn="l">
              <a:defRPr sz="1275" b="0">
                <a:solidFill>
                  <a:srgbClr val="323232"/>
                </a:solidFill>
                <a:latin typeface="Aptos"/>
                <a:ea typeface="Aptos"/>
                <a:cs typeface="Aptos"/>
              </a:defRPr>
            </a:pPr>
            <a:r>
              <a:rPr sz="1275" b="0">
                <a:solidFill>
                  <a:srgbClr val="323232"/>
                </a:solidFill>
                <a:latin typeface="Aptos"/>
                <a:ea typeface="Aptos"/>
                <a:cs typeface="Aptos"/>
              </a:rPr>
              <a:t>Run 1: 58 conformant, 6 non-conformant, 2 recording reviews. Repeat: 58 conformant, 2 non-conformant, 2 reviews; 4 not recorded.</a:t>
            </a:r>
          </a:p>
        </p:txBody>
      </p:sp>
      <p:sp>
        <p:nvSpPr>
          <p:cNvPr id="19" name="repeat-resolution">
            <a:extLst xmlns:a="http://schemas.openxmlformats.org/drawingml/2006/main">
              <a:ext uri="{FF2B5EF4-FFF2-40B4-BE49-F238E27FC236}">
                <a16:creationId xmlns:a16="http://schemas.microsoft.com/office/drawing/2014/main" id="{9EC93ADC-5A07-4502-97F4-4461C05CD601}"/>
              </a:ext>
            </a:extLst>
          </p:cNvPr>
          <p:cNvSpPr>
            <a:spLocks xmlns:a="http://schemas.openxmlformats.org/drawingml/2006/main" noGrp="1"/>
          </p:cNvSpPr>
          <p:nvPr/>
        </p:nvSpPr>
        <p:spPr>
          <a:xfrm xmlns:a="http://schemas.openxmlformats.org/drawingml/2006/main">
            <a:off x="533400" y="5924550"/>
            <a:ext cx="11125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323232"/>
                </a:solidFill>
                <a:latin typeface="Aptos"/>
                <a:ea typeface="Aptos"/>
                <a:cs typeface="Aptos"/>
              </a:defRPr>
            </a:defPPr>
            <a:lvl1pPr algn="l">
              <a:defRPr sz="1200" b="0">
                <a:solidFill>
                  <a:srgbClr val="323232"/>
                </a:solidFill>
                <a:latin typeface="Aptos"/>
                <a:ea typeface="Aptos"/>
                <a:cs typeface="Aptos"/>
              </a:defRPr>
            </a:lvl1pPr>
            <a:lvl2pPr algn="l">
              <a:defRPr sz="1200" b="0">
                <a:solidFill>
                  <a:srgbClr val="323232"/>
                </a:solidFill>
                <a:latin typeface="Aptos"/>
                <a:ea typeface="Aptos"/>
                <a:cs typeface="Aptos"/>
              </a:defRPr>
            </a:lvl2pPr>
            <a:lvl3pPr algn="l">
              <a:defRPr sz="1200" b="0">
                <a:solidFill>
                  <a:srgbClr val="323232"/>
                </a:solidFill>
                <a:latin typeface="Aptos"/>
                <a:ea typeface="Aptos"/>
                <a:cs typeface="Aptos"/>
              </a:defRPr>
            </a:lvl3pPr>
            <a:lvl4pPr algn="l">
              <a:defRPr sz="1200" b="0">
                <a:solidFill>
                  <a:srgbClr val="323232"/>
                </a:solidFill>
                <a:latin typeface="Aptos"/>
                <a:ea typeface="Aptos"/>
                <a:cs typeface="Aptos"/>
              </a:defRPr>
            </a:lvl4pPr>
            <a:lvl5pPr algn="l">
              <a:defRPr sz="1200" b="0">
                <a:solidFill>
                  <a:srgbClr val="323232"/>
                </a:solidFill>
                <a:latin typeface="Aptos"/>
                <a:ea typeface="Aptos"/>
                <a:cs typeface="Aptos"/>
              </a:defRPr>
            </a:lvl5pPr>
            <a:lvl6pPr algn="l">
              <a:defRPr sz="1200" b="0">
                <a:solidFill>
                  <a:srgbClr val="323232"/>
                </a:solidFill>
                <a:latin typeface="Aptos"/>
                <a:ea typeface="Aptos"/>
                <a:cs typeface="Aptos"/>
              </a:defRPr>
            </a:lvl6pPr>
            <a:lvl7pPr algn="l">
              <a:defRPr sz="1200" b="0">
                <a:solidFill>
                  <a:srgbClr val="323232"/>
                </a:solidFill>
                <a:latin typeface="Aptos"/>
                <a:ea typeface="Aptos"/>
                <a:cs typeface="Aptos"/>
              </a:defRPr>
            </a:lvl7pPr>
            <a:lvl8pPr algn="l">
              <a:defRPr sz="1200" b="0">
                <a:solidFill>
                  <a:srgbClr val="323232"/>
                </a:solidFill>
                <a:latin typeface="Aptos"/>
                <a:ea typeface="Aptos"/>
                <a:cs typeface="Aptos"/>
              </a:defRPr>
            </a:lvl8pPr>
            <a:lvl9pPr algn="l">
              <a:defRPr sz="1200" b="0">
                <a:solidFill>
                  <a:srgbClr val="323232"/>
                </a:solidFill>
                <a:latin typeface="Aptos"/>
                <a:ea typeface="Aptos"/>
                <a:cs typeface="Aptos"/>
              </a:defRPr>
            </a:lvl9pPr>
          </a:lstStyle>
          <a:p xmlns:a="http://schemas.openxmlformats.org/drawingml/2006/main">
            <a:pPr algn="l">
              <a:defRPr sz="1200" b="0">
                <a:solidFill>
                  <a:srgbClr val="323232"/>
                </a:solidFill>
                <a:latin typeface="Aptos"/>
                <a:ea typeface="Aptos"/>
                <a:cs typeface="Aptos"/>
              </a:defRPr>
            </a:pPr>
            <a:r>
              <a:rPr sz="1200" b="0">
                <a:solidFill>
                  <a:srgbClr val="323232"/>
                </a:solidFill>
                <a:latin typeface="Aptos"/>
                <a:ea typeface="Aptos"/>
                <a:cs typeface="Aptos"/>
              </a:rPr>
              <a:t>Q53, Q60, Q61 and Q63 conform in the repeat. Latest uses the repeat where recorded, otherwise the first response.</a:t>
            </a:r>
          </a:p>
        </p:txBody>
      </p:sp>
      <p:sp>
        <p:nvSpPr>
          <p:cNvPr id="20" name="quant-method">
            <a:extLst xmlns:a="http://schemas.openxmlformats.org/drawingml/2006/main">
              <a:ext uri="{FF2B5EF4-FFF2-40B4-BE49-F238E27FC236}">
                <a16:creationId xmlns:a16="http://schemas.microsoft.com/office/drawing/2014/main" id="{0815C444-A7DC-4B7B-B1C7-4016F37349D0}"/>
              </a:ext>
            </a:extLst>
          </p:cNvPr>
          <p:cNvSpPr>
            <a:spLocks xmlns:a="http://schemas.openxmlformats.org/drawingml/2006/main" noGrp="1"/>
          </p:cNvSpPr>
          <p:nvPr/>
        </p:nvSpPr>
        <p:spPr>
          <a:xfrm xmlns:a="http://schemas.openxmlformats.org/drawingml/2006/main">
            <a:off x="533400" y="6238875"/>
            <a:ext cx="11125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75" b="0">
                <a:solidFill>
                  <a:srgbClr val="6F6F6F"/>
                </a:solidFill>
                <a:latin typeface="Aptos"/>
                <a:ea typeface="Aptos"/>
                <a:cs typeface="Aptos"/>
              </a:defRPr>
            </a:defPPr>
            <a:lvl1pPr algn="l">
              <a:defRPr sz="975" b="0">
                <a:solidFill>
                  <a:srgbClr val="6F6F6F"/>
                </a:solidFill>
                <a:latin typeface="Aptos"/>
                <a:ea typeface="Aptos"/>
                <a:cs typeface="Aptos"/>
              </a:defRPr>
            </a:lvl1pPr>
            <a:lvl2pPr algn="l">
              <a:defRPr sz="975" b="0">
                <a:solidFill>
                  <a:srgbClr val="6F6F6F"/>
                </a:solidFill>
                <a:latin typeface="Aptos"/>
                <a:ea typeface="Aptos"/>
                <a:cs typeface="Aptos"/>
              </a:defRPr>
            </a:lvl2pPr>
            <a:lvl3pPr algn="l">
              <a:defRPr sz="975" b="0">
                <a:solidFill>
                  <a:srgbClr val="6F6F6F"/>
                </a:solidFill>
                <a:latin typeface="Aptos"/>
                <a:ea typeface="Aptos"/>
                <a:cs typeface="Aptos"/>
              </a:defRPr>
            </a:lvl3pPr>
            <a:lvl4pPr algn="l">
              <a:defRPr sz="975" b="0">
                <a:solidFill>
                  <a:srgbClr val="6F6F6F"/>
                </a:solidFill>
                <a:latin typeface="Aptos"/>
                <a:ea typeface="Aptos"/>
                <a:cs typeface="Aptos"/>
              </a:defRPr>
            </a:lvl4pPr>
            <a:lvl5pPr algn="l">
              <a:defRPr sz="975" b="0">
                <a:solidFill>
                  <a:srgbClr val="6F6F6F"/>
                </a:solidFill>
                <a:latin typeface="Aptos"/>
                <a:ea typeface="Aptos"/>
                <a:cs typeface="Aptos"/>
              </a:defRPr>
            </a:lvl5pPr>
            <a:lvl6pPr algn="l">
              <a:defRPr sz="975" b="0">
                <a:solidFill>
                  <a:srgbClr val="6F6F6F"/>
                </a:solidFill>
                <a:latin typeface="Aptos"/>
                <a:ea typeface="Aptos"/>
                <a:cs typeface="Aptos"/>
              </a:defRPr>
            </a:lvl6pPr>
            <a:lvl7pPr algn="l">
              <a:defRPr sz="975" b="0">
                <a:solidFill>
                  <a:srgbClr val="6F6F6F"/>
                </a:solidFill>
                <a:latin typeface="Aptos"/>
                <a:ea typeface="Aptos"/>
                <a:cs typeface="Aptos"/>
              </a:defRPr>
            </a:lvl7pPr>
            <a:lvl8pPr algn="l">
              <a:defRPr sz="975" b="0">
                <a:solidFill>
                  <a:srgbClr val="6F6F6F"/>
                </a:solidFill>
                <a:latin typeface="Aptos"/>
                <a:ea typeface="Aptos"/>
                <a:cs typeface="Aptos"/>
              </a:defRPr>
            </a:lvl8pPr>
            <a:lvl9pPr algn="l">
              <a:defRPr sz="975" b="0">
                <a:solidFill>
                  <a:srgbClr val="6F6F6F"/>
                </a:solidFill>
                <a:latin typeface="Aptos"/>
                <a:ea typeface="Aptos"/>
                <a:cs typeface="Aptos"/>
              </a:defRPr>
            </a:lvl9pPr>
          </a:lstStyle>
          <a:p xmlns:a="http://schemas.openxmlformats.org/drawingml/2006/main">
            <a:pPr algn="l">
              <a:defRPr sz="975" b="0">
                <a:solidFill>
                  <a:srgbClr val="6F6F6F"/>
                </a:solidFill>
                <a:latin typeface="Aptos"/>
                <a:ea typeface="Aptos"/>
                <a:cs typeface="Aptos"/>
              </a:defRPr>
            </a:pPr>
            <a:r>
              <a:rPr sz="975" b="0">
                <a:solidFill>
                  <a:srgbClr val="6F6F6F"/>
                </a:solidFill>
                <a:latin typeface="Aptos"/>
                <a:ea typeface="Aptos"/>
                <a:cs typeface="Aptos"/>
              </a:rPr>
              <a:t>Reference: supplied test workbook. Shared calendar: weekdays, 08:00–20:00 Lisbon, no national holidays. Full wording and both responses: evidence workbook.</a:t>
            </a:r>
          </a:p>
        </p:txBody>
      </p:sp>
    </p:spTree>
    <p:extLst>
      <p:ext uri="{BB962C8B-B14F-4D97-AF65-F5344CB8AC3E}">
        <p14:creationId xmlns:p14="http://schemas.microsoft.com/office/powerpoint/2010/main" val="1374383142"/>
      </p:ext>
    </p:extLst>
  </p:cSld>
</p:sld>
</file>

<file path=ppt/slides/slide3.xml><?xml version="1.0" encoding="utf-8"?>
<p:sld xmlns:p="http://schemas.openxmlformats.org/presentationml/2006/main">
  <p:cSld>
    <p:bg>
      <p:bgPr>
        <a:solidFill xmlns:a="http://schemas.openxmlformats.org/drawingml/2006/main">
          <a:srgbClr val="F7F7F7"/>
        </a:solidFill>
      </p:bgPr>
    </p:bg>
    <p:spTree>
      <p:nvGrpSpPr>
        <p:cNvPr id="1" name=""/>
        <p:cNvGrpSpPr/>
        <p:nvPr/>
      </p:nvGrpSpPr>
      <p:grpSpPr>
        <a:xfrm xmlns:a="http://schemas.openxmlformats.org/drawingml/2006/main"/>
      </p:grpSpPr>
      <p:sp>
        <p:nvSpPr>
          <p:cNvPr id="15" name="text-0">
            <a:extLst xmlns:a="http://schemas.openxmlformats.org/drawingml/2006/main">
              <a:ext uri="{FF2B5EF4-FFF2-40B4-BE49-F238E27FC236}">
                <a16:creationId xmlns:a16="http://schemas.microsoft.com/office/drawing/2014/main" id="{CCFE36F3-99F8-4E85-8ECF-5687C3868616}"/>
              </a:ext>
            </a:extLst>
          </p:cNvPr>
          <p:cNvSpPr>
            <a:spLocks xmlns:a="http://schemas.openxmlformats.org/drawingml/2006/main" noGrp="1"/>
          </p:cNvSpPr>
          <p:nvPr/>
        </p:nvSpPr>
        <p:spPr>
          <a:xfrm xmlns:a="http://schemas.openxmlformats.org/drawingml/2006/main">
            <a:off x="533400" y="266700"/>
            <a:ext cx="11125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050" b="1">
                <a:solidFill>
                  <a:srgbClr val="D71920"/>
                </a:solidFill>
                <a:latin typeface="Aptos"/>
                <a:ea typeface="Aptos"/>
                <a:cs typeface="Aptos"/>
              </a:defRPr>
            </a:defPPr>
            <a:lvl1pPr algn="l">
              <a:defRPr sz="1050" b="1">
                <a:solidFill>
                  <a:srgbClr val="D71920"/>
                </a:solidFill>
                <a:latin typeface="Aptos"/>
                <a:ea typeface="Aptos"/>
                <a:cs typeface="Aptos"/>
              </a:defRPr>
            </a:lvl1pPr>
            <a:lvl2pPr algn="l">
              <a:defRPr sz="1050" b="1">
                <a:solidFill>
                  <a:srgbClr val="D71920"/>
                </a:solidFill>
                <a:latin typeface="Aptos"/>
                <a:ea typeface="Aptos"/>
                <a:cs typeface="Aptos"/>
              </a:defRPr>
            </a:lvl2pPr>
            <a:lvl3pPr algn="l">
              <a:defRPr sz="1050" b="1">
                <a:solidFill>
                  <a:srgbClr val="D71920"/>
                </a:solidFill>
                <a:latin typeface="Aptos"/>
                <a:ea typeface="Aptos"/>
                <a:cs typeface="Aptos"/>
              </a:defRPr>
            </a:lvl3pPr>
            <a:lvl4pPr algn="l">
              <a:defRPr sz="1050" b="1">
                <a:solidFill>
                  <a:srgbClr val="D71920"/>
                </a:solidFill>
                <a:latin typeface="Aptos"/>
                <a:ea typeface="Aptos"/>
                <a:cs typeface="Aptos"/>
              </a:defRPr>
            </a:lvl4pPr>
            <a:lvl5pPr algn="l">
              <a:defRPr sz="1050" b="1">
                <a:solidFill>
                  <a:srgbClr val="D71920"/>
                </a:solidFill>
                <a:latin typeface="Aptos"/>
                <a:ea typeface="Aptos"/>
                <a:cs typeface="Aptos"/>
              </a:defRPr>
            </a:lvl5pPr>
            <a:lvl6pPr algn="l">
              <a:defRPr sz="1050" b="1">
                <a:solidFill>
                  <a:srgbClr val="D71920"/>
                </a:solidFill>
                <a:latin typeface="Aptos"/>
                <a:ea typeface="Aptos"/>
                <a:cs typeface="Aptos"/>
              </a:defRPr>
            </a:lvl6pPr>
            <a:lvl7pPr algn="l">
              <a:defRPr sz="1050" b="1">
                <a:solidFill>
                  <a:srgbClr val="D71920"/>
                </a:solidFill>
                <a:latin typeface="Aptos"/>
                <a:ea typeface="Aptos"/>
                <a:cs typeface="Aptos"/>
              </a:defRPr>
            </a:lvl7pPr>
            <a:lvl8pPr algn="l">
              <a:defRPr sz="1050" b="1">
                <a:solidFill>
                  <a:srgbClr val="D71920"/>
                </a:solidFill>
                <a:latin typeface="Aptos"/>
                <a:ea typeface="Aptos"/>
                <a:cs typeface="Aptos"/>
              </a:defRPr>
            </a:lvl8pPr>
            <a:lvl9pPr algn="l">
              <a:defRPr sz="1050" b="1">
                <a:solidFill>
                  <a:srgbClr val="D71920"/>
                </a:solidFill>
                <a:latin typeface="Aptos"/>
                <a:ea typeface="Aptos"/>
                <a:cs typeface="Aptos"/>
              </a:defRPr>
            </a:lvl9pPr>
          </a:lstStyle>
          <a:p xmlns:a="http://schemas.openxmlformats.org/drawingml/2006/main">
            <a:pPr algn="l">
              <a:buNone/>
              <a:defRPr sz="1050" b="1">
                <a:solidFill>
                  <a:srgbClr val="D71920"/>
                </a:solidFill>
                <a:latin typeface="Aptos"/>
                <a:ea typeface="Aptos"/>
                <a:cs typeface="Aptos"/>
              </a:defRPr>
            </a:pPr>
            <a:r>
              <a:rPr sz="1050" b="1">
                <a:solidFill>
                  <a:srgbClr val="D71920"/>
                </a:solidFill>
                <a:latin typeface="Aptos"/>
                <a:ea typeface="Aptos"/>
                <a:cs typeface="Aptos"/>
              </a:rPr>
              <a:t>CONVERSATIONAL STRESS TESTS</a:t>
            </a:r>
          </a:p>
        </p:txBody>
      </p:sp>
      <p:sp>
        <p:nvSpPr>
          <p:cNvPr id="2" name="text-1">
            <a:extLst xmlns:a="http://schemas.openxmlformats.org/drawingml/2006/main">
              <a:ext uri="{FF2B5EF4-FFF2-40B4-BE49-F238E27FC236}">
                <a16:creationId xmlns:a16="http://schemas.microsoft.com/office/drawing/2014/main" id="{51FE4BED-C077-4E6B-8E65-EDDF0008E68C}"/>
              </a:ext>
            </a:extLst>
          </p:cNvPr>
          <p:cNvSpPr>
            <a:spLocks xmlns:a="http://schemas.openxmlformats.org/drawingml/2006/main" noGrp="1"/>
          </p:cNvSpPr>
          <p:nvPr/>
        </p:nvSpPr>
        <p:spPr>
          <a:xfrm xmlns:a="http://schemas.openxmlformats.org/drawingml/2006/main">
            <a:off x="533400" y="533400"/>
            <a:ext cx="111252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2550" b="1">
                <a:solidFill>
                  <a:srgbClr val="323232"/>
                </a:solidFill>
                <a:latin typeface="Aptos Display"/>
                <a:ea typeface="Aptos Display"/>
                <a:cs typeface="Aptos Display"/>
              </a:defRPr>
            </a:defPPr>
            <a:lvl1pPr algn="l">
              <a:defRPr sz="2550" b="1">
                <a:solidFill>
                  <a:srgbClr val="323232"/>
                </a:solidFill>
                <a:latin typeface="Aptos Display"/>
                <a:ea typeface="Aptos Display"/>
                <a:cs typeface="Aptos Display"/>
              </a:defRPr>
            </a:lvl1pPr>
            <a:lvl2pPr algn="l">
              <a:defRPr sz="2550" b="1">
                <a:solidFill>
                  <a:srgbClr val="323232"/>
                </a:solidFill>
                <a:latin typeface="Aptos Display"/>
                <a:ea typeface="Aptos Display"/>
                <a:cs typeface="Aptos Display"/>
              </a:defRPr>
            </a:lvl2pPr>
            <a:lvl3pPr algn="l">
              <a:defRPr sz="2550" b="1">
                <a:solidFill>
                  <a:srgbClr val="323232"/>
                </a:solidFill>
                <a:latin typeface="Aptos Display"/>
                <a:ea typeface="Aptos Display"/>
                <a:cs typeface="Aptos Display"/>
              </a:defRPr>
            </a:lvl3pPr>
            <a:lvl4pPr algn="l">
              <a:defRPr sz="2550" b="1">
                <a:solidFill>
                  <a:srgbClr val="323232"/>
                </a:solidFill>
                <a:latin typeface="Aptos Display"/>
                <a:ea typeface="Aptos Display"/>
                <a:cs typeface="Aptos Display"/>
              </a:defRPr>
            </a:lvl4pPr>
            <a:lvl5pPr algn="l">
              <a:defRPr sz="2550" b="1">
                <a:solidFill>
                  <a:srgbClr val="323232"/>
                </a:solidFill>
                <a:latin typeface="Aptos Display"/>
                <a:ea typeface="Aptos Display"/>
                <a:cs typeface="Aptos Display"/>
              </a:defRPr>
            </a:lvl5pPr>
            <a:lvl6pPr algn="l">
              <a:defRPr sz="2550" b="1">
                <a:solidFill>
                  <a:srgbClr val="323232"/>
                </a:solidFill>
                <a:latin typeface="Aptos Display"/>
                <a:ea typeface="Aptos Display"/>
                <a:cs typeface="Aptos Display"/>
              </a:defRPr>
            </a:lvl6pPr>
            <a:lvl7pPr algn="l">
              <a:defRPr sz="2550" b="1">
                <a:solidFill>
                  <a:srgbClr val="323232"/>
                </a:solidFill>
                <a:latin typeface="Aptos Display"/>
                <a:ea typeface="Aptos Display"/>
                <a:cs typeface="Aptos Display"/>
              </a:defRPr>
            </a:lvl7pPr>
            <a:lvl8pPr algn="l">
              <a:defRPr sz="2550" b="1">
                <a:solidFill>
                  <a:srgbClr val="323232"/>
                </a:solidFill>
                <a:latin typeface="Aptos Display"/>
                <a:ea typeface="Aptos Display"/>
                <a:cs typeface="Aptos Display"/>
              </a:defRPr>
            </a:lvl8pPr>
            <a:lvl9pPr algn="l">
              <a:defRPr sz="2550" b="1">
                <a:solidFill>
                  <a:srgbClr val="323232"/>
                </a:solidFill>
                <a:latin typeface="Aptos Display"/>
                <a:ea typeface="Aptos Display"/>
                <a:cs typeface="Aptos Display"/>
              </a:defRPr>
            </a:lvl9pPr>
          </a:lstStyle>
          <a:p xmlns:a="http://schemas.openxmlformats.org/drawingml/2006/main">
            <a:pPr algn="l">
              <a:buNone/>
              <a:defRPr sz="2550" b="1">
                <a:solidFill>
                  <a:srgbClr val="323232"/>
                </a:solidFill>
                <a:latin typeface="Aptos Display"/>
                <a:ea typeface="Aptos Display"/>
                <a:cs typeface="Aptos Display"/>
              </a:defRPr>
            </a:pPr>
            <a:r>
              <a:rPr sz="2550" b="1">
                <a:solidFill>
                  <a:srgbClr val="323232"/>
                </a:solidFill>
                <a:latin typeface="Aptos Display"/>
                <a:ea typeface="Aptos Display"/>
                <a:cs typeface="Aptos Display"/>
              </a:rPr>
              <a:t>Stress tests expose inconsistent scope and rule retention</a:t>
            </a:r>
          </a:p>
        </p:txBody>
      </p:sp>
      <p:sp>
        <p:nvSpPr>
          <p:cNvPr id="3" name="">
            <a:extLst xmlns:a="http://schemas.openxmlformats.org/drawingml/2006/main">
              <a:ext uri="{FF2B5EF4-FFF2-40B4-BE49-F238E27FC236}">
                <a16:creationId xmlns:a16="http://schemas.microsoft.com/office/drawing/2014/main" id="{47F04079-789A-4362-9F25-AFC4EAF572D4}"/>
              </a:ext>
            </a:extLst>
          </p:cNvPr>
          <p:cNvSpPr>
            <a:spLocks xmlns:a="http://schemas.openxmlformats.org/drawingml/2006/main" noGrp="1"/>
          </p:cNvSpPr>
          <p:nvPr/>
        </p:nvSpPr>
        <p:spPr>
          <a:xfrm xmlns:a="http://schemas.openxmlformats.org/drawingml/2006/main">
            <a:off x="533400" y="1019175"/>
            <a:ext cx="11125200" cy="9525"/>
          </a:xfrm>
          <a:prstGeom xmlns:a="http://schemas.openxmlformats.org/drawingml/2006/main" prst="rect">
            <a:avLst/>
          </a:prstGeom>
          <a:solidFill xmlns:a="http://schemas.openxmlformats.org/drawingml/2006/main">
            <a:srgbClr val="E8E8E8"/>
          </a:solidFill>
          <a:ln xmlns:a="http://schemas.openxmlformats.org/drawingml/2006/main" w="0">
            <a:noFill/>
            <a:prstDash val="solid"/>
          </a:ln>
        </p:spPr>
      </p:sp>
      <p:sp>
        <p:nvSpPr>
          <p:cNvPr id="4" name="text-3">
            <a:extLst xmlns:a="http://schemas.openxmlformats.org/drawingml/2006/main">
              <a:ext uri="{FF2B5EF4-FFF2-40B4-BE49-F238E27FC236}">
                <a16:creationId xmlns:a16="http://schemas.microsoft.com/office/drawing/2014/main" id="{A1242558-ABF0-4AD1-A6C0-9D411A021583}"/>
              </a:ext>
            </a:extLst>
          </p:cNvPr>
          <p:cNvSpPr>
            <a:spLocks xmlns:a="http://schemas.openxmlformats.org/drawingml/2006/main" noGrp="1"/>
          </p:cNvSpPr>
          <p:nvPr/>
        </p:nvSpPr>
        <p:spPr>
          <a:xfrm xmlns:a="http://schemas.openxmlformats.org/drawingml/2006/main">
            <a:off x="533400" y="1162050"/>
            <a:ext cx="11125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D71920"/>
                </a:solidFill>
                <a:latin typeface="Aptos"/>
                <a:ea typeface="Aptos"/>
                <a:cs typeface="Aptos"/>
              </a:defRPr>
            </a:defPPr>
            <a:lvl1pPr algn="l">
              <a:defRPr sz="1500" b="1">
                <a:solidFill>
                  <a:srgbClr val="D71920"/>
                </a:solidFill>
                <a:latin typeface="Aptos"/>
                <a:ea typeface="Aptos"/>
                <a:cs typeface="Aptos"/>
              </a:defRPr>
            </a:lvl1pPr>
            <a:lvl2pPr algn="l">
              <a:defRPr sz="1500" b="1">
                <a:solidFill>
                  <a:srgbClr val="D71920"/>
                </a:solidFill>
                <a:latin typeface="Aptos"/>
                <a:ea typeface="Aptos"/>
                <a:cs typeface="Aptos"/>
              </a:defRPr>
            </a:lvl2pPr>
            <a:lvl3pPr algn="l">
              <a:defRPr sz="1500" b="1">
                <a:solidFill>
                  <a:srgbClr val="D71920"/>
                </a:solidFill>
                <a:latin typeface="Aptos"/>
                <a:ea typeface="Aptos"/>
                <a:cs typeface="Aptos"/>
              </a:defRPr>
            </a:lvl3pPr>
            <a:lvl4pPr algn="l">
              <a:defRPr sz="1500" b="1">
                <a:solidFill>
                  <a:srgbClr val="D71920"/>
                </a:solidFill>
                <a:latin typeface="Aptos"/>
                <a:ea typeface="Aptos"/>
                <a:cs typeface="Aptos"/>
              </a:defRPr>
            </a:lvl4pPr>
            <a:lvl5pPr algn="l">
              <a:defRPr sz="1500" b="1">
                <a:solidFill>
                  <a:srgbClr val="D71920"/>
                </a:solidFill>
                <a:latin typeface="Aptos"/>
                <a:ea typeface="Aptos"/>
                <a:cs typeface="Aptos"/>
              </a:defRPr>
            </a:lvl5pPr>
            <a:lvl6pPr algn="l">
              <a:defRPr sz="1500" b="1">
                <a:solidFill>
                  <a:srgbClr val="D71920"/>
                </a:solidFill>
                <a:latin typeface="Aptos"/>
                <a:ea typeface="Aptos"/>
                <a:cs typeface="Aptos"/>
              </a:defRPr>
            </a:lvl6pPr>
            <a:lvl7pPr algn="l">
              <a:defRPr sz="1500" b="1">
                <a:solidFill>
                  <a:srgbClr val="D71920"/>
                </a:solidFill>
                <a:latin typeface="Aptos"/>
                <a:ea typeface="Aptos"/>
                <a:cs typeface="Aptos"/>
              </a:defRPr>
            </a:lvl7pPr>
            <a:lvl8pPr algn="l">
              <a:defRPr sz="1500" b="1">
                <a:solidFill>
                  <a:srgbClr val="D71920"/>
                </a:solidFill>
                <a:latin typeface="Aptos"/>
                <a:ea typeface="Aptos"/>
                <a:cs typeface="Aptos"/>
              </a:defRPr>
            </a:lvl8pPr>
            <a:lvl9pPr algn="l">
              <a:defRPr sz="1500" b="1">
                <a:solidFill>
                  <a:srgbClr val="D71920"/>
                </a:solidFill>
                <a:latin typeface="Aptos"/>
                <a:ea typeface="Aptos"/>
                <a:cs typeface="Aptos"/>
              </a:defRPr>
            </a:lvl9pPr>
          </a:lstStyle>
          <a:p xmlns:a="http://schemas.openxmlformats.org/drawingml/2006/main">
            <a:pPr algn="l">
              <a:buNone/>
              <a:defRPr sz="1500" b="1">
                <a:solidFill>
                  <a:srgbClr val="D71920"/>
                </a:solidFill>
                <a:latin typeface="Aptos"/>
                <a:ea typeface="Aptos"/>
                <a:cs typeface="Aptos"/>
              </a:defRPr>
            </a:pPr>
            <a:r>
              <a:rPr sz="1500" b="1">
                <a:solidFill>
                  <a:srgbClr val="D71920"/>
                </a:solidFill>
                <a:latin typeface="Aptos"/>
                <a:ea typeface="Aptos"/>
                <a:cs typeface="Aptos"/>
              </a:rPr>
              <a:t>10 conformant, 4 partially conformant and 10 non-conformant replies. Equivalent, usable answers are accepted.</a:t>
            </a:r>
          </a:p>
        </p:txBody>
      </p:sp>
      <p:sp>
        <p:nvSpPr>
          <p:cNvPr id="5" name="text-4">
            <a:extLst xmlns:a="http://schemas.openxmlformats.org/drawingml/2006/main">
              <a:ext uri="{FF2B5EF4-FFF2-40B4-BE49-F238E27FC236}">
                <a16:creationId xmlns:a16="http://schemas.microsoft.com/office/drawing/2014/main" id="{FD1A75ED-221C-48A8-A094-B185EF1DE109}"/>
              </a:ext>
            </a:extLst>
          </p:cNvPr>
          <p:cNvSpPr>
            <a:spLocks xmlns:a="http://schemas.openxmlformats.org/drawingml/2006/main" noGrp="1"/>
          </p:cNvSpPr>
          <p:nvPr/>
        </p:nvSpPr>
        <p:spPr>
          <a:xfrm xmlns:a="http://schemas.openxmlformats.org/drawingml/2006/main">
            <a:off x="533400" y="65341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0">
                <a:solidFill>
                  <a:srgbClr val="6F6F6F"/>
                </a:solidFill>
                <a:latin typeface="Aptos"/>
                <a:ea typeface="Aptos"/>
                <a:cs typeface="Aptos"/>
              </a:defRPr>
            </a:defPPr>
            <a:lvl1pPr algn="l">
              <a:defRPr sz="900" b="0">
                <a:solidFill>
                  <a:srgbClr val="6F6F6F"/>
                </a:solidFill>
                <a:latin typeface="Aptos"/>
                <a:ea typeface="Aptos"/>
                <a:cs typeface="Aptos"/>
              </a:defRPr>
            </a:lvl1pPr>
            <a:lvl2pPr algn="l">
              <a:defRPr sz="900" b="0">
                <a:solidFill>
                  <a:srgbClr val="6F6F6F"/>
                </a:solidFill>
                <a:latin typeface="Aptos"/>
                <a:ea typeface="Aptos"/>
                <a:cs typeface="Aptos"/>
              </a:defRPr>
            </a:lvl2pPr>
            <a:lvl3pPr algn="l">
              <a:defRPr sz="900" b="0">
                <a:solidFill>
                  <a:srgbClr val="6F6F6F"/>
                </a:solidFill>
                <a:latin typeface="Aptos"/>
                <a:ea typeface="Aptos"/>
                <a:cs typeface="Aptos"/>
              </a:defRPr>
            </a:lvl3pPr>
            <a:lvl4pPr algn="l">
              <a:defRPr sz="900" b="0">
                <a:solidFill>
                  <a:srgbClr val="6F6F6F"/>
                </a:solidFill>
                <a:latin typeface="Aptos"/>
                <a:ea typeface="Aptos"/>
                <a:cs typeface="Aptos"/>
              </a:defRPr>
            </a:lvl4pPr>
            <a:lvl5pPr algn="l">
              <a:defRPr sz="900" b="0">
                <a:solidFill>
                  <a:srgbClr val="6F6F6F"/>
                </a:solidFill>
                <a:latin typeface="Aptos"/>
                <a:ea typeface="Aptos"/>
                <a:cs typeface="Aptos"/>
              </a:defRPr>
            </a:lvl5pPr>
            <a:lvl6pPr algn="l">
              <a:defRPr sz="900" b="0">
                <a:solidFill>
                  <a:srgbClr val="6F6F6F"/>
                </a:solidFill>
                <a:latin typeface="Aptos"/>
                <a:ea typeface="Aptos"/>
                <a:cs typeface="Aptos"/>
              </a:defRPr>
            </a:lvl6pPr>
            <a:lvl7pPr algn="l">
              <a:defRPr sz="900" b="0">
                <a:solidFill>
                  <a:srgbClr val="6F6F6F"/>
                </a:solidFill>
                <a:latin typeface="Aptos"/>
                <a:ea typeface="Aptos"/>
                <a:cs typeface="Aptos"/>
              </a:defRPr>
            </a:lvl7pPr>
            <a:lvl8pPr algn="l">
              <a:defRPr sz="900" b="0">
                <a:solidFill>
                  <a:srgbClr val="6F6F6F"/>
                </a:solidFill>
                <a:latin typeface="Aptos"/>
                <a:ea typeface="Aptos"/>
                <a:cs typeface="Aptos"/>
              </a:defRPr>
            </a:lvl8pPr>
            <a:lvl9pPr algn="l">
              <a:defRPr sz="900" b="0">
                <a:solidFill>
                  <a:srgbClr val="6F6F6F"/>
                </a:solidFill>
                <a:latin typeface="Aptos"/>
                <a:ea typeface="Aptos"/>
                <a:cs typeface="Aptos"/>
              </a:defRPr>
            </a:lvl9pPr>
          </a:lstStyle>
          <a:p xmlns:a="http://schemas.openxmlformats.org/drawingml/2006/main">
            <a:pPr algn="l">
              <a:buNone/>
              <a:defRPr sz="900" b="0">
                <a:solidFill>
                  <a:srgbClr val="6F6F6F"/>
                </a:solidFill>
                <a:latin typeface="Aptos"/>
                <a:ea typeface="Aptos"/>
                <a:cs typeface="Aptos"/>
              </a:defRPr>
            </a:pPr>
            <a:r>
              <a:rPr sz="900" b="0">
                <a:solidFill>
                  <a:srgbClr val="6F6F6F"/>
                </a:solidFill>
                <a:latin typeface="Aptos"/>
                <a:ea typeface="Aptos"/>
                <a:cs typeface="Aptos"/>
              </a:rPr>
              <a:t>Medicare · AMA evaluation · 20 October 2026</a:t>
            </a:r>
          </a:p>
        </p:txBody>
      </p:sp>
      <p:sp>
        <p:nvSpPr>
          <p:cNvPr id="6" name="text-5">
            <a:extLst xmlns:a="http://schemas.openxmlformats.org/drawingml/2006/main">
              <a:ext uri="{FF2B5EF4-FFF2-40B4-BE49-F238E27FC236}">
                <a16:creationId xmlns:a16="http://schemas.microsoft.com/office/drawing/2014/main" id="{398D2992-5F29-438D-B1BA-F64FE2C26926}"/>
              </a:ext>
            </a:extLst>
          </p:cNvPr>
          <p:cNvSpPr>
            <a:spLocks xmlns:a="http://schemas.openxmlformats.org/drawingml/2006/main" noGrp="1"/>
          </p:cNvSpPr>
          <p:nvPr/>
        </p:nvSpPr>
        <p:spPr>
          <a:xfrm xmlns:a="http://schemas.openxmlformats.org/drawingml/2006/main">
            <a:off x="11239500" y="65341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00" b="0">
                <a:solidFill>
                  <a:srgbClr val="6F6F6F"/>
                </a:solidFill>
                <a:latin typeface="Aptos"/>
                <a:ea typeface="Aptos"/>
                <a:cs typeface="Aptos"/>
              </a:defRPr>
            </a:defPPr>
            <a:lvl1pPr algn="l">
              <a:defRPr sz="900" b="0">
                <a:solidFill>
                  <a:srgbClr val="6F6F6F"/>
                </a:solidFill>
                <a:latin typeface="Aptos"/>
                <a:ea typeface="Aptos"/>
                <a:cs typeface="Aptos"/>
              </a:defRPr>
            </a:lvl1pPr>
            <a:lvl2pPr algn="l">
              <a:defRPr sz="900" b="0">
                <a:solidFill>
                  <a:srgbClr val="6F6F6F"/>
                </a:solidFill>
                <a:latin typeface="Aptos"/>
                <a:ea typeface="Aptos"/>
                <a:cs typeface="Aptos"/>
              </a:defRPr>
            </a:lvl2pPr>
            <a:lvl3pPr algn="l">
              <a:defRPr sz="900" b="0">
                <a:solidFill>
                  <a:srgbClr val="6F6F6F"/>
                </a:solidFill>
                <a:latin typeface="Aptos"/>
                <a:ea typeface="Aptos"/>
                <a:cs typeface="Aptos"/>
              </a:defRPr>
            </a:lvl3pPr>
            <a:lvl4pPr algn="l">
              <a:defRPr sz="900" b="0">
                <a:solidFill>
                  <a:srgbClr val="6F6F6F"/>
                </a:solidFill>
                <a:latin typeface="Aptos"/>
                <a:ea typeface="Aptos"/>
                <a:cs typeface="Aptos"/>
              </a:defRPr>
            </a:lvl4pPr>
            <a:lvl5pPr algn="l">
              <a:defRPr sz="900" b="0">
                <a:solidFill>
                  <a:srgbClr val="6F6F6F"/>
                </a:solidFill>
                <a:latin typeface="Aptos"/>
                <a:ea typeface="Aptos"/>
                <a:cs typeface="Aptos"/>
              </a:defRPr>
            </a:lvl5pPr>
            <a:lvl6pPr algn="l">
              <a:defRPr sz="900" b="0">
                <a:solidFill>
                  <a:srgbClr val="6F6F6F"/>
                </a:solidFill>
                <a:latin typeface="Aptos"/>
                <a:ea typeface="Aptos"/>
                <a:cs typeface="Aptos"/>
              </a:defRPr>
            </a:lvl6pPr>
            <a:lvl7pPr algn="l">
              <a:defRPr sz="900" b="0">
                <a:solidFill>
                  <a:srgbClr val="6F6F6F"/>
                </a:solidFill>
                <a:latin typeface="Aptos"/>
                <a:ea typeface="Aptos"/>
                <a:cs typeface="Aptos"/>
              </a:defRPr>
            </a:lvl7pPr>
            <a:lvl8pPr algn="l">
              <a:defRPr sz="900" b="0">
                <a:solidFill>
                  <a:srgbClr val="6F6F6F"/>
                </a:solidFill>
                <a:latin typeface="Aptos"/>
                <a:ea typeface="Aptos"/>
                <a:cs typeface="Aptos"/>
              </a:defRPr>
            </a:lvl8pPr>
            <a:lvl9pPr algn="l">
              <a:defRPr sz="900" b="0">
                <a:solidFill>
                  <a:srgbClr val="6F6F6F"/>
                </a:solidFill>
                <a:latin typeface="Aptos"/>
                <a:ea typeface="Aptos"/>
                <a:cs typeface="Aptos"/>
              </a:defRPr>
            </a:lvl9pPr>
          </a:lstStyle>
          <a:p xmlns:a="http://schemas.openxmlformats.org/drawingml/2006/main">
            <a:pPr algn="l">
              <a:buNone/>
              <a:defRPr sz="900" b="0">
                <a:solidFill>
                  <a:srgbClr val="6F6F6F"/>
                </a:solidFill>
                <a:latin typeface="Aptos"/>
                <a:ea typeface="Aptos"/>
                <a:cs typeface="Aptos"/>
              </a:defRPr>
            </a:pPr>
            <a:r>
              <a:rPr sz="900" b="0">
                <a:solidFill>
                  <a:srgbClr val="6F6F6F"/>
                </a:solidFill>
                <a:latin typeface="Aptos"/>
                <a:ea typeface="Aptos"/>
                <a:cs typeface="Aptos"/>
              </a:rPr>
              <a:t>3</a:t>
            </a:r>
          </a:p>
        </p:txBody>
      </p:sp>
      <p:sp>
        <p:nvSpPr>
          <p:cNvPr id="16" name="stress-set-scope">
            <a:extLst xmlns:a="http://schemas.openxmlformats.org/drawingml/2006/main">
              <a:ext uri="{FF2B5EF4-FFF2-40B4-BE49-F238E27FC236}">
                <a16:creationId xmlns:a16="http://schemas.microsoft.com/office/drawing/2014/main" id="{351D418C-6588-486E-AF32-1A56157BCCF8}"/>
              </a:ext>
            </a:extLst>
          </p:cNvPr>
          <p:cNvSpPr>
            <a:spLocks xmlns:a="http://schemas.openxmlformats.org/drawingml/2006/main" noGrp="1"/>
          </p:cNvSpPr>
          <p:nvPr/>
        </p:nvSpPr>
        <p:spPr>
          <a:xfrm xmlns:a="http://schemas.openxmlformats.org/drawingml/2006/main">
            <a:off x="533400" y="160020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75" b="0">
                <a:solidFill>
                  <a:srgbClr val="323232"/>
                </a:solidFill>
                <a:latin typeface="Aptos"/>
                <a:ea typeface="Aptos"/>
                <a:cs typeface="Aptos"/>
              </a:defRPr>
            </a:defPPr>
            <a:lvl1pPr algn="l">
              <a:defRPr sz="1275" b="0">
                <a:solidFill>
                  <a:srgbClr val="323232"/>
                </a:solidFill>
                <a:latin typeface="Aptos"/>
                <a:ea typeface="Aptos"/>
                <a:cs typeface="Aptos"/>
              </a:defRPr>
            </a:lvl1pPr>
            <a:lvl2pPr algn="l">
              <a:defRPr sz="1275" b="0">
                <a:solidFill>
                  <a:srgbClr val="323232"/>
                </a:solidFill>
                <a:latin typeface="Aptos"/>
                <a:ea typeface="Aptos"/>
                <a:cs typeface="Aptos"/>
              </a:defRPr>
            </a:lvl2pPr>
            <a:lvl3pPr algn="l">
              <a:defRPr sz="1275" b="0">
                <a:solidFill>
                  <a:srgbClr val="323232"/>
                </a:solidFill>
                <a:latin typeface="Aptos"/>
                <a:ea typeface="Aptos"/>
                <a:cs typeface="Aptos"/>
              </a:defRPr>
            </a:lvl3pPr>
            <a:lvl4pPr algn="l">
              <a:defRPr sz="1275" b="0">
                <a:solidFill>
                  <a:srgbClr val="323232"/>
                </a:solidFill>
                <a:latin typeface="Aptos"/>
                <a:ea typeface="Aptos"/>
                <a:cs typeface="Aptos"/>
              </a:defRPr>
            </a:lvl4pPr>
            <a:lvl5pPr algn="l">
              <a:defRPr sz="1275" b="0">
                <a:solidFill>
                  <a:srgbClr val="323232"/>
                </a:solidFill>
                <a:latin typeface="Aptos"/>
                <a:ea typeface="Aptos"/>
                <a:cs typeface="Aptos"/>
              </a:defRPr>
            </a:lvl5pPr>
            <a:lvl6pPr algn="l">
              <a:defRPr sz="1275" b="0">
                <a:solidFill>
                  <a:srgbClr val="323232"/>
                </a:solidFill>
                <a:latin typeface="Aptos"/>
                <a:ea typeface="Aptos"/>
                <a:cs typeface="Aptos"/>
              </a:defRPr>
            </a:lvl6pPr>
            <a:lvl7pPr algn="l">
              <a:defRPr sz="1275" b="0">
                <a:solidFill>
                  <a:srgbClr val="323232"/>
                </a:solidFill>
                <a:latin typeface="Aptos"/>
                <a:ea typeface="Aptos"/>
                <a:cs typeface="Aptos"/>
              </a:defRPr>
            </a:lvl7pPr>
            <a:lvl8pPr algn="l">
              <a:defRPr sz="1275" b="0">
                <a:solidFill>
                  <a:srgbClr val="323232"/>
                </a:solidFill>
                <a:latin typeface="Aptos"/>
                <a:ea typeface="Aptos"/>
                <a:cs typeface="Aptos"/>
              </a:defRPr>
            </a:lvl8pPr>
            <a:lvl9pPr algn="l">
              <a:defRPr sz="1275" b="0">
                <a:solidFill>
                  <a:srgbClr val="323232"/>
                </a:solidFill>
                <a:latin typeface="Aptos"/>
                <a:ea typeface="Aptos"/>
                <a:cs typeface="Aptos"/>
              </a:defRPr>
            </a:lvl9pPr>
          </a:lstStyle>
          <a:p xmlns:a="http://schemas.openxmlformats.org/drawingml/2006/main">
            <a:pPr algn="l">
              <a:defRPr sz="1275" b="0">
                <a:solidFill>
                  <a:srgbClr val="323232"/>
                </a:solidFill>
                <a:latin typeface="Aptos"/>
                <a:ea typeface="Aptos"/>
                <a:cs typeface="Aptos"/>
              </a:defRPr>
            </a:pPr>
            <a:r>
              <a:rPr sz="1275" b="0">
                <a:solidFill>
                  <a:srgbClr val="323232"/>
                </a:solidFill>
                <a:latin typeface="Aptos"/>
                <a:ea typeface="Aptos"/>
                <a:cs typeface="Aptos"/>
              </a:rPr>
              <a:t>24 scenarios test ambiguity, follow-ups, calendar and timezones, session counting and waiting-time boundaries.</a:t>
            </a:r>
          </a:p>
        </p:txBody>
      </p:sp>
      <p:graphicFrame>
        <p:nvGraphicFramePr>
          <p:cNvPr id="17" name="">
            <a:extLst xmlns:a="http://schemas.openxmlformats.org/drawingml/2006/main">
              <a:ext uri="{FF2B5EF4-FFF2-40B4-BE49-F238E27FC236}">
                <a16:creationId xmlns:a16="http://schemas.microsoft.com/office/drawing/2014/main" id="{D57E891F-DF5C-4557-B9E6-BD49803B6548}"/>
              </a:ext>
            </a:extLst>
          </p:cNvPr>
          <p:cNvGraphicFramePr/>
          <p:nvPr/>
        </p:nvGraphicFramePr>
        <p:xfrm>
          <a:off xmlns:a="http://schemas.openxmlformats.org/drawingml/2006/main" x="533400" y="1943100"/>
          <a:ext xmlns:a="http://schemas.openxmlformats.org/drawingml/2006/main" cx="11125200" cy="3629025"/>
        </p:xfrm>
        <a:graphic xmlns:a="http://schemas.openxmlformats.org/drawingml/2006/main">
          <a:graphicData uri="http://schemas.openxmlformats.org/drawingml/2006/table">
            <a:tbl>
              <a:tblPr firstRow="0" bandRow="0"/>
              <a:tblGrid>
                <a:gridCol w="552450"/>
                <a:gridCol w="2571750"/>
                <a:gridCol w="2762250"/>
                <a:gridCol w="3333750"/>
                <a:gridCol w="1905000"/>
              </a:tblGrid>
              <a:tr h="342900">
                <a:tc>
                  <a:txBody>
                    <a:bodyPr lIns="85725" tIns="66675" rIns="85725" bIns="66675">
                      <a:noAutofit/>
                    </a:bodyPr>
                    <a:lstStyle/>
                    <a:p>
                      <a:pPr algn="l"/>
                      <a:r>
                        <a:rPr sz="1200" b="1">
                          <a:solidFill>
                            <a:srgbClr val="FFFFFF"/>
                          </a:solidFill>
                          <a:latin typeface="Aptos"/>
                          <a:ea typeface="Aptos"/>
                          <a:cs typeface="Aptos"/>
                        </a:rPr>
                        <a:t>Test</a:t>
                      </a:r>
                    </a:p>
                  </a:txBody>
                  <a:tcPr marL="91440" marR="91440" marT="45720" marB="45720" anchor="t">
                    <a:lnL w="5715">
                      <a:solidFill>
                        <a:srgbClr val="E8E8E8"/>
                      </a:solidFill>
                      <a:prstDash val="solid"/>
                    </a:lnL>
                    <a:lnR w="5715">
                      <a:solidFill>
                        <a:srgbClr val="E8E8E8"/>
                      </a:solidFill>
                      <a:prstDash val="solid"/>
                    </a:lnR>
                    <a:lnT w="5715">
                      <a:solidFill>
                        <a:srgbClr val="E8E8E8"/>
                      </a:solidFill>
                      <a:prstDash val="solid"/>
                    </a:lnT>
                    <a:lnB w="5715">
                      <a:solidFill>
                        <a:srgbClr val="E8E8E8"/>
                      </a:solidFill>
                      <a:prstDash val="solid"/>
                    </a:lnB>
                    <a:solidFill>
                      <a:srgbClr val="323232"/>
                    </a:solidFill>
                  </a:tcPr>
                </a:tc>
                <a:tc>
                  <a:txBody>
                    <a:bodyPr lIns="85725" tIns="66675" rIns="85725" bIns="66675">
                      <a:noAutofit/>
                    </a:bodyPr>
                    <a:lstStyle/>
                    <a:p>
                      <a:pPr algn="l"/>
                      <a:r>
                        <a:rPr sz="1200" b="1">
                          <a:solidFill>
                            <a:srgbClr val="FFFFFF"/>
                          </a:solidFill>
                          <a:latin typeface="Aptos"/>
                          <a:ea typeface="Aptos"/>
                          <a:cs typeface="Aptos"/>
                        </a:rPr>
                        <a:t>Question (summary)</a:t>
                      </a:r>
                    </a:p>
                  </a:txBody>
                  <a:tcPr marL="91440" marR="91440" marT="45720" marB="45720" anchor="t">
                    <a:lnR w="5715">
                      <a:solidFill>
                        <a:srgbClr val="E8E8E8"/>
                      </a:solidFill>
                      <a:prstDash val="solid"/>
                    </a:lnR>
                    <a:lnT w="5715">
                      <a:solidFill>
                        <a:srgbClr val="E8E8E8"/>
                      </a:solidFill>
                      <a:prstDash val="solid"/>
                    </a:lnT>
                    <a:lnB w="5715">
                      <a:solidFill>
                        <a:srgbClr val="E8E8E8"/>
                      </a:solidFill>
                      <a:prstDash val="solid"/>
                    </a:lnB>
                    <a:solidFill>
                      <a:srgbClr val="D71920"/>
                    </a:solidFill>
                  </a:tcPr>
                </a:tc>
                <a:tc>
                  <a:txBody>
                    <a:bodyPr lIns="85725" tIns="66675" rIns="85725" bIns="66675">
                      <a:noAutofit/>
                    </a:bodyPr>
                    <a:lstStyle/>
                    <a:p>
                      <a:pPr algn="l"/>
                      <a:r>
                        <a:rPr sz="1200" b="1">
                          <a:solidFill>
                            <a:srgbClr val="FFFFFF"/>
                          </a:solidFill>
                          <a:latin typeface="Aptos"/>
                          <a:ea typeface="Aptos"/>
                          <a:cs typeface="Aptos"/>
                        </a:rPr>
                        <a:t>Validation criterion (summary)</a:t>
                      </a:r>
                    </a:p>
                  </a:txBody>
                  <a:tcPr marL="91440" marR="91440" marT="45720" marB="45720" anchor="t">
                    <a:lnR w="5715">
                      <a:solidFill>
                        <a:srgbClr val="E8E8E8"/>
                      </a:solidFill>
                      <a:prstDash val="solid"/>
                    </a:lnR>
                    <a:lnT w="5715">
                      <a:solidFill>
                        <a:srgbClr val="E8E8E8"/>
                      </a:solidFill>
                      <a:prstDash val="solid"/>
                    </a:lnT>
                    <a:lnB w="5715">
                      <a:solidFill>
                        <a:srgbClr val="E8E8E8"/>
                      </a:solidFill>
                      <a:prstDash val="solid"/>
                    </a:lnB>
                    <a:solidFill>
                      <a:srgbClr val="D71920"/>
                    </a:solidFill>
                  </a:tcPr>
                </a:tc>
                <a:tc>
                  <a:txBody>
                    <a:bodyPr lIns="85725" tIns="66675" rIns="85725" bIns="66675">
                      <a:noAutofit/>
                    </a:bodyPr>
                    <a:lstStyle/>
                    <a:p>
                      <a:pPr algn="l"/>
                      <a:r>
                        <a:rPr sz="1200" b="1">
                          <a:solidFill>
                            <a:srgbClr val="FFFFFF"/>
                          </a:solidFill>
                          <a:latin typeface="Aptos"/>
                          <a:ea typeface="Aptos"/>
                          <a:cs typeface="Aptos"/>
                        </a:rPr>
                        <a:t>Recorded reply and review</a:t>
                      </a:r>
                    </a:p>
                  </a:txBody>
                  <a:tcPr marL="91440" marR="91440" marT="45720" marB="45720" anchor="t">
                    <a:lnR w="5715">
                      <a:solidFill>
                        <a:srgbClr val="E8E8E8"/>
                      </a:solidFill>
                      <a:prstDash val="solid"/>
                    </a:lnR>
                    <a:lnT w="5715">
                      <a:solidFill>
                        <a:srgbClr val="E8E8E8"/>
                      </a:solidFill>
                      <a:prstDash val="solid"/>
                    </a:lnT>
                    <a:lnB w="5715">
                      <a:solidFill>
                        <a:srgbClr val="E8E8E8"/>
                      </a:solidFill>
                      <a:prstDash val="solid"/>
                    </a:lnB>
                    <a:solidFill>
                      <a:srgbClr val="D71920"/>
                    </a:solidFill>
                  </a:tcPr>
                </a:tc>
                <a:tc>
                  <a:txBody>
                    <a:bodyPr lIns="85725" tIns="66675" rIns="85725" bIns="66675">
                      <a:noAutofit/>
                    </a:bodyPr>
                    <a:lstStyle/>
                    <a:p>
                      <a:pPr algn="l"/>
                      <a:r>
                        <a:rPr sz="1200" b="1">
                          <a:solidFill>
                            <a:srgbClr val="FFFFFF"/>
                          </a:solidFill>
                          <a:latin typeface="Aptos"/>
                          <a:ea typeface="Aptos"/>
                          <a:cs typeface="Aptos"/>
                        </a:rPr>
                        <a:t>Assessment</a:t>
                      </a:r>
                    </a:p>
                  </a:txBody>
                  <a:tcPr marL="91440" marR="91440" marT="45720" marB="45720" anchor="t">
                    <a:lnR w="5715">
                      <a:solidFill>
                        <a:srgbClr val="E8E8E8"/>
                      </a:solidFill>
                      <a:prstDash val="solid"/>
                    </a:lnR>
                    <a:lnT w="5715">
                      <a:solidFill>
                        <a:srgbClr val="E8E8E8"/>
                      </a:solidFill>
                      <a:prstDash val="solid"/>
                    </a:lnT>
                    <a:lnB w="5715">
                      <a:solidFill>
                        <a:srgbClr val="E8E8E8"/>
                      </a:solidFill>
                      <a:prstDash val="solid"/>
                    </a:lnB>
                    <a:solidFill>
                      <a:srgbClr val="D71920"/>
                    </a:solidFill>
                  </a:tcPr>
                </a:tc>
              </a:tr>
              <a:tr h="657225">
                <a:tc>
                  <a:txBody>
                    <a:bodyPr lIns="85725" tIns="66675" rIns="85725" bIns="66675">
                      <a:noAutofit/>
                    </a:bodyPr>
                    <a:lstStyle/>
                    <a:p>
                      <a:pPr algn="l"/>
                      <a:r>
                        <a:rPr sz="1163" b="0">
                          <a:solidFill>
                            <a:srgbClr val="323232"/>
                          </a:solidFill>
                          <a:latin typeface="Aptos"/>
                          <a:ea typeface="Aptos"/>
                          <a:cs typeface="Aptos"/>
                        </a:rPr>
                        <a:t>S05</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Report INB abandonment in August 2026.</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Resolve gross vs adjusted abandonment without silently choosing a definition.</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Gives both labelled definitions: 1,489 (3.98%) gross and 1,115 (3.01%) adjusted.</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1">
                          <a:solidFill>
                            <a:srgbClr val="323232"/>
                          </a:solidFill>
                          <a:latin typeface="Aptos"/>
                          <a:ea typeface="Aptos"/>
                          <a:cs typeface="Aptos"/>
                        </a:rPr>
                        <a:t>Conformant</a:t>
                      </a:r>
                    </a:p>
                    <a:p>
                      <a:pPr algn="l"/>
                      <a:r>
                        <a:rPr sz="1163" b="1">
                          <a:solidFill>
                            <a:srgbClr val="323232"/>
                          </a:solidFill>
                          <a:latin typeface="Aptos"/>
                          <a:ea typeface="Aptos"/>
                          <a:cs typeface="Aptos"/>
                        </a:rPr>
                        <a:t>Accepted alternative.</a:t>
                      </a:r>
                    </a:p>
                  </a:txBody>
                  <a:tcPr marL="91440" marR="91440" marT="45720" marB="45720" anchor="t">
                    <a:lnR w="5715">
                      <a:solidFill>
                        <a:srgbClr val="E8E8E8"/>
                      </a:solidFill>
                      <a:prstDash val="solid"/>
                    </a:lnR>
                    <a:lnB w="5715">
                      <a:solidFill>
                        <a:srgbClr val="E8E8E8"/>
                      </a:solidFill>
                      <a:prstDash val="solid"/>
                    </a:lnB>
                    <a:solidFill>
                      <a:srgbClr val="FFFFFF"/>
                    </a:solidFill>
                  </a:tcPr>
                </a:tc>
              </a:tr>
              <a:tr h="657225">
                <a:tc>
                  <a:txBody>
                    <a:bodyPr lIns="85725" tIns="66675" rIns="85725" bIns="66675">
                      <a:noAutofit/>
                    </a:bodyPr>
                    <a:lstStyle/>
                    <a:p>
                      <a:pPr algn="l"/>
                      <a:r>
                        <a:rPr sz="1163" b="0">
                          <a:solidFill>
                            <a:srgbClr val="323232"/>
                          </a:solidFill>
                          <a:latin typeface="Aptos"/>
                          <a:ea typeface="Aptos"/>
                          <a:cs typeface="Aptos"/>
                        </a:rPr>
                        <a:t>S23</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163" b="0">
                          <a:solidFill>
                            <a:srgbClr val="323232"/>
                          </a:solidFill>
                          <a:latin typeface="Aptos"/>
                          <a:ea typeface="Aptos"/>
                          <a:cs typeface="Aptos"/>
                        </a:rPr>
                        <a:t>August 2026 inbound total, including outbound callbacks.</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163" b="0">
                          <a:solidFill>
                            <a:srgbClr val="323232"/>
                          </a:solidFill>
                          <a:latin typeface="Aptos"/>
                          <a:ea typeface="Aptos"/>
                          <a:cs typeface="Aptos"/>
                        </a:rPr>
                        <a:t>Clarify inbound vs callbacks; keep the populations distinct until confirmed.</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163" b="0">
                          <a:solidFill>
                            <a:srgbClr val="323232"/>
                          </a:solidFill>
                          <a:latin typeface="Aptos"/>
                          <a:ea typeface="Aptos"/>
                          <a:cs typeface="Aptos"/>
                        </a:rPr>
                        <a:t>Flags incompatible scope and offers separate figures for confirmation.</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163" b="1">
                          <a:solidFill>
                            <a:srgbClr val="323232"/>
                          </a:solidFill>
                          <a:latin typeface="Aptos"/>
                          <a:ea typeface="Aptos"/>
                          <a:cs typeface="Aptos"/>
                        </a:rPr>
                        <a:t>Conformant</a:t>
                      </a:r>
                    </a:p>
                    <a:p>
                      <a:pPr algn="l"/>
                      <a:r>
                        <a:rPr sz="1163" b="1">
                          <a:solidFill>
                            <a:srgbClr val="323232"/>
                          </a:solidFill>
                          <a:latin typeface="Aptos"/>
                          <a:ea typeface="Aptos"/>
                          <a:cs typeface="Aptos"/>
                        </a:rPr>
                        <a:t>Accepted alternative.</a:t>
                      </a:r>
                    </a:p>
                  </a:txBody>
                  <a:tcPr marL="91440" marR="91440" marT="45720" marB="45720" anchor="t">
                    <a:lnR w="5715">
                      <a:solidFill>
                        <a:srgbClr val="E8E8E8"/>
                      </a:solidFill>
                      <a:prstDash val="solid"/>
                    </a:lnR>
                    <a:lnB w="5715">
                      <a:solidFill>
                        <a:srgbClr val="E8E8E8"/>
                      </a:solidFill>
                      <a:prstDash val="solid"/>
                    </a:lnB>
                    <a:solidFill>
                      <a:srgbClr val="F6F6F6"/>
                    </a:solidFill>
                  </a:tcPr>
                </a:tc>
              </a:tr>
              <a:tr h="657225">
                <a:tc>
                  <a:txBody>
                    <a:bodyPr lIns="85725" tIns="66675" rIns="85725" bIns="66675">
                      <a:noAutofit/>
                    </a:bodyPr>
                    <a:lstStyle/>
                    <a:p>
                      <a:pPr algn="l"/>
                      <a:r>
                        <a:rPr sz="1163" b="0">
                          <a:solidFill>
                            <a:srgbClr val="323232"/>
                          </a:solidFill>
                          <a:latin typeface="Aptos"/>
                          <a:ea typeface="Aptos"/>
                          <a:cs typeface="Aptos"/>
                        </a:rPr>
                        <a:t>S11</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“And in August” after INB adjusted received calls for July 2026.</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Retain INB, adjusted received calls and 2026. Expected 37,028.</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Returns 235 answered calls for ENG. Changes both service and metric.</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1">
                          <a:solidFill>
                            <a:srgbClr val="D71920"/>
                          </a:solidFill>
                          <a:latin typeface="Aptos"/>
                          <a:ea typeface="Aptos"/>
                          <a:cs typeface="Aptos"/>
                        </a:rPr>
                        <a:t>Non-conformant</a:t>
                      </a:r>
                    </a:p>
                    <a:p>
                      <a:pPr algn="l"/>
                      <a:r>
                        <a:rPr sz="1163" b="1">
                          <a:solidFill>
                            <a:srgbClr val="D71920"/>
                          </a:solidFill>
                          <a:latin typeface="Aptos"/>
                          <a:ea typeface="Aptos"/>
                          <a:cs typeface="Aptos"/>
                        </a:rPr>
                        <a:t>Context mismatch.</a:t>
                      </a:r>
                    </a:p>
                  </a:txBody>
                  <a:tcPr marL="91440" marR="91440" marT="45720" marB="45720" anchor="t">
                    <a:lnR w="5715">
                      <a:solidFill>
                        <a:srgbClr val="E8E8E8"/>
                      </a:solidFill>
                      <a:prstDash val="solid"/>
                    </a:lnR>
                    <a:lnB w="5715">
                      <a:solidFill>
                        <a:srgbClr val="E8E8E8"/>
                      </a:solidFill>
                      <a:prstDash val="solid"/>
                    </a:lnB>
                    <a:solidFill>
                      <a:srgbClr val="FFFFFF"/>
                    </a:solidFill>
                  </a:tcPr>
                </a:tc>
              </a:tr>
              <a:tr h="657225">
                <a:tc>
                  <a:txBody>
                    <a:bodyPr lIns="85725" tIns="66675" rIns="85725" bIns="66675">
                      <a:noAutofit/>
                    </a:bodyPr>
                    <a:lstStyle/>
                    <a:p>
                      <a:pPr algn="l"/>
                      <a:r>
                        <a:rPr sz="1163" b="0">
                          <a:solidFill>
                            <a:srgbClr val="323232"/>
                          </a:solidFill>
                          <a:latin typeface="Aptos"/>
                          <a:ea typeface="Aptos"/>
                          <a:cs typeface="Aptos"/>
                        </a:rPr>
                        <a:t>S14</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163" b="0">
                          <a:solidFill>
                            <a:srgbClr val="323232"/>
                          </a:solidFill>
                          <a:latin typeface="Aptos"/>
                          <a:ea typeface="Aptos"/>
                          <a:cs typeface="Aptos"/>
                        </a:rPr>
                        <a:t>Gross INB received calls on 10 June 2026.</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163" b="0">
                          <a:solidFill>
                            <a:srgbClr val="323232"/>
                          </a:solidFill>
                          <a:latin typeface="Aptos"/>
                          <a:ea typeface="Aptos"/>
                          <a:cs typeface="Aptos"/>
                        </a:rPr>
                        <a:t>Keep holiday exclusion and one call per SessionID. Expected 0 eligible sessions.</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163" b="0">
                          <a:solidFill>
                            <a:srgbClr val="323232"/>
                          </a:solidFill>
                          <a:latin typeface="Aptos"/>
                          <a:ea typeface="Aptos"/>
                          <a:cs typeface="Aptos"/>
                        </a:rPr>
                        <a:t>Returns 8 raw interactions; says “gross” permits keeping the holiday.</a:t>
                      </a:r>
                    </a:p>
                  </a:txBody>
                  <a:tcPr marL="91440" marR="91440" marT="45720" marB="45720" anchor="t">
                    <a:lnR w="5715">
                      <a:solidFill>
                        <a:srgbClr val="E8E8E8"/>
                      </a:solidFill>
                      <a:prstDash val="solid"/>
                    </a:lnR>
                    <a:lnB w="5715">
                      <a:solidFill>
                        <a:srgbClr val="E8E8E8"/>
                      </a:solidFill>
                      <a:prstDash val="solid"/>
                    </a:lnB>
                    <a:solidFill>
                      <a:srgbClr val="F6F6F6"/>
                    </a:solidFill>
                  </a:tcPr>
                </a:tc>
                <a:tc>
                  <a:txBody>
                    <a:bodyPr lIns="85725" tIns="66675" rIns="85725" bIns="66675">
                      <a:noAutofit/>
                    </a:bodyPr>
                    <a:lstStyle/>
                    <a:p>
                      <a:pPr algn="l"/>
                      <a:r>
                        <a:rPr sz="1163" b="1">
                          <a:solidFill>
                            <a:srgbClr val="D71920"/>
                          </a:solidFill>
                          <a:latin typeface="Aptos"/>
                          <a:ea typeface="Aptos"/>
                          <a:cs typeface="Aptos"/>
                        </a:rPr>
                        <a:t>Non-conformant</a:t>
                      </a:r>
                    </a:p>
                    <a:p>
                      <a:pPr algn="l"/>
                      <a:r>
                        <a:rPr sz="1163" b="1">
                          <a:solidFill>
                            <a:srgbClr val="D71920"/>
                          </a:solidFill>
                          <a:latin typeface="Aptos"/>
                          <a:ea typeface="Aptos"/>
                          <a:cs typeface="Aptos"/>
                        </a:rPr>
                        <a:t>Calendar and count.</a:t>
                      </a:r>
                    </a:p>
                  </a:txBody>
                  <a:tcPr marL="91440" marR="91440" marT="45720" marB="45720" anchor="t">
                    <a:lnR w="5715">
                      <a:solidFill>
                        <a:srgbClr val="E8E8E8"/>
                      </a:solidFill>
                      <a:prstDash val="solid"/>
                    </a:lnR>
                    <a:lnB w="5715">
                      <a:solidFill>
                        <a:srgbClr val="E8E8E8"/>
                      </a:solidFill>
                      <a:prstDash val="solid"/>
                    </a:lnB>
                    <a:solidFill>
                      <a:srgbClr val="F6F6F6"/>
                    </a:solidFill>
                  </a:tcPr>
                </a:tc>
              </a:tr>
              <a:tr h="657225">
                <a:tc>
                  <a:txBody>
                    <a:bodyPr lIns="85725" tIns="66675" rIns="85725" bIns="66675">
                      <a:noAutofit/>
                    </a:bodyPr>
                    <a:lstStyle/>
                    <a:p>
                      <a:pPr algn="l"/>
                      <a:r>
                        <a:rPr sz="1163" b="0">
                          <a:solidFill>
                            <a:srgbClr val="323232"/>
                          </a:solidFill>
                          <a:latin typeface="Aptos"/>
                          <a:ea typeface="Aptos"/>
                          <a:cs typeface="Aptos"/>
                        </a:rPr>
                        <a:t>S22</a:t>
                      </a:r>
                    </a:p>
                  </a:txBody>
                  <a:tcPr marL="91440" marR="91440" marT="45720" marB="45720" anchor="t">
                    <a:lnL w="5715">
                      <a:solidFill>
                        <a:srgbClr val="E8E8E8"/>
                      </a:solidFill>
                      <a:prstDash val="solid"/>
                    </a:lnL>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Unanswered call: two 15 s waits. Remove under a &lt;30 s rule?</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Sum waits per session. Exactly 30 s is retained.</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0">
                          <a:solidFill>
                            <a:srgbClr val="323232"/>
                          </a:solidFill>
                          <a:latin typeface="Aptos"/>
                          <a:ea typeface="Aptos"/>
                          <a:cs typeface="Aptos"/>
                        </a:rPr>
                        <a:t>Starts “Yes, remove”, then says strict &lt;30 s means retain. Contradictory decision.</a:t>
                      </a:r>
                    </a:p>
                  </a:txBody>
                  <a:tcPr marL="91440" marR="91440" marT="45720" marB="45720" anchor="t">
                    <a:lnR w="5715">
                      <a:solidFill>
                        <a:srgbClr val="E8E8E8"/>
                      </a:solidFill>
                      <a:prstDash val="solid"/>
                    </a:lnR>
                    <a:lnB w="5715">
                      <a:solidFill>
                        <a:srgbClr val="E8E8E8"/>
                      </a:solidFill>
                      <a:prstDash val="solid"/>
                    </a:lnB>
                    <a:solidFill>
                      <a:srgbClr val="FFFFFF"/>
                    </a:solidFill>
                  </a:tcPr>
                </a:tc>
                <a:tc>
                  <a:txBody>
                    <a:bodyPr lIns="85725" tIns="66675" rIns="85725" bIns="66675">
                      <a:noAutofit/>
                    </a:bodyPr>
                    <a:lstStyle/>
                    <a:p>
                      <a:pPr algn="l"/>
                      <a:r>
                        <a:rPr sz="1163" b="1">
                          <a:solidFill>
                            <a:srgbClr val="D71920"/>
                          </a:solidFill>
                          <a:latin typeface="Aptos"/>
                          <a:ea typeface="Aptos"/>
                          <a:cs typeface="Aptos"/>
                        </a:rPr>
                        <a:t>Non-conformant</a:t>
                      </a:r>
                    </a:p>
                    <a:p>
                      <a:pPr algn="l"/>
                      <a:r>
                        <a:rPr sz="1163" b="1">
                          <a:solidFill>
                            <a:srgbClr val="D71920"/>
                          </a:solidFill>
                          <a:latin typeface="Aptos"/>
                          <a:ea typeface="Aptos"/>
                          <a:cs typeface="Aptos"/>
                        </a:rPr>
                        <a:t>Contradiction.</a:t>
                      </a:r>
                    </a:p>
                  </a:txBody>
                  <a:tcPr marL="91440" marR="91440" marT="45720" marB="45720" anchor="t">
                    <a:lnR w="5715">
                      <a:solidFill>
                        <a:srgbClr val="E8E8E8"/>
                      </a:solidFill>
                      <a:prstDash val="solid"/>
                    </a:lnR>
                    <a:lnB w="5715">
                      <a:solidFill>
                        <a:srgbClr val="E8E8E8"/>
                      </a:solidFill>
                      <a:prstDash val="solid"/>
                    </a:lnB>
                    <a:solidFill>
                      <a:srgbClr val="FFFFFF"/>
                    </a:solidFill>
                  </a:tcPr>
                </a:tc>
              </a:tr>
            </a:tbl>
          </a:graphicData>
        </a:graphic>
      </p:graphicFrame>
      <p:sp>
        <p:nvSpPr>
          <p:cNvPr id="18" name="other-stress-results">
            <a:extLst xmlns:a="http://schemas.openxmlformats.org/drawingml/2006/main">
              <a:ext uri="{FF2B5EF4-FFF2-40B4-BE49-F238E27FC236}">
                <a16:creationId xmlns:a16="http://schemas.microsoft.com/office/drawing/2014/main" id="{BDADFFB6-17BB-4BC5-B488-820A7F999BB8}"/>
              </a:ext>
            </a:extLst>
          </p:cNvPr>
          <p:cNvSpPr>
            <a:spLocks xmlns:a="http://schemas.openxmlformats.org/drawingml/2006/main" noGrp="1"/>
          </p:cNvSpPr>
          <p:nvPr/>
        </p:nvSpPr>
        <p:spPr>
          <a:xfrm xmlns:a="http://schemas.openxmlformats.org/drawingml/2006/main">
            <a:off x="533400" y="5810250"/>
            <a:ext cx="11125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323232"/>
                </a:solidFill>
                <a:latin typeface="Aptos"/>
                <a:ea typeface="Aptos"/>
                <a:cs typeface="Aptos"/>
              </a:defRPr>
            </a:defPPr>
            <a:lvl1pPr algn="l">
              <a:defRPr sz="1200" b="0">
                <a:solidFill>
                  <a:srgbClr val="323232"/>
                </a:solidFill>
                <a:latin typeface="Aptos"/>
                <a:ea typeface="Aptos"/>
                <a:cs typeface="Aptos"/>
              </a:defRPr>
            </a:lvl1pPr>
            <a:lvl2pPr algn="l">
              <a:defRPr sz="1200" b="0">
                <a:solidFill>
                  <a:srgbClr val="323232"/>
                </a:solidFill>
                <a:latin typeface="Aptos"/>
                <a:ea typeface="Aptos"/>
                <a:cs typeface="Aptos"/>
              </a:defRPr>
            </a:lvl2pPr>
            <a:lvl3pPr algn="l">
              <a:defRPr sz="1200" b="0">
                <a:solidFill>
                  <a:srgbClr val="323232"/>
                </a:solidFill>
                <a:latin typeface="Aptos"/>
                <a:ea typeface="Aptos"/>
                <a:cs typeface="Aptos"/>
              </a:defRPr>
            </a:lvl3pPr>
            <a:lvl4pPr algn="l">
              <a:defRPr sz="1200" b="0">
                <a:solidFill>
                  <a:srgbClr val="323232"/>
                </a:solidFill>
                <a:latin typeface="Aptos"/>
                <a:ea typeface="Aptos"/>
                <a:cs typeface="Aptos"/>
              </a:defRPr>
            </a:lvl4pPr>
            <a:lvl5pPr algn="l">
              <a:defRPr sz="1200" b="0">
                <a:solidFill>
                  <a:srgbClr val="323232"/>
                </a:solidFill>
                <a:latin typeface="Aptos"/>
                <a:ea typeface="Aptos"/>
                <a:cs typeface="Aptos"/>
              </a:defRPr>
            </a:lvl5pPr>
            <a:lvl6pPr algn="l">
              <a:defRPr sz="1200" b="0">
                <a:solidFill>
                  <a:srgbClr val="323232"/>
                </a:solidFill>
                <a:latin typeface="Aptos"/>
                <a:ea typeface="Aptos"/>
                <a:cs typeface="Aptos"/>
              </a:defRPr>
            </a:lvl6pPr>
            <a:lvl7pPr algn="l">
              <a:defRPr sz="1200" b="0">
                <a:solidFill>
                  <a:srgbClr val="323232"/>
                </a:solidFill>
                <a:latin typeface="Aptos"/>
                <a:ea typeface="Aptos"/>
                <a:cs typeface="Aptos"/>
              </a:defRPr>
            </a:lvl7pPr>
            <a:lvl8pPr algn="l">
              <a:defRPr sz="1200" b="0">
                <a:solidFill>
                  <a:srgbClr val="323232"/>
                </a:solidFill>
                <a:latin typeface="Aptos"/>
                <a:ea typeface="Aptos"/>
                <a:cs typeface="Aptos"/>
              </a:defRPr>
            </a:lvl8pPr>
            <a:lvl9pPr algn="l">
              <a:defRPr sz="1200" b="0">
                <a:solidFill>
                  <a:srgbClr val="323232"/>
                </a:solidFill>
                <a:latin typeface="Aptos"/>
                <a:ea typeface="Aptos"/>
                <a:cs typeface="Aptos"/>
              </a:defRPr>
            </a:lvl9pPr>
          </a:lstStyle>
          <a:p xmlns:a="http://schemas.openxmlformats.org/drawingml/2006/main">
            <a:pPr algn="l">
              <a:defRPr sz="1200" b="0">
                <a:solidFill>
                  <a:srgbClr val="323232"/>
                </a:solidFill>
                <a:latin typeface="Aptos"/>
                <a:ea typeface="Aptos"/>
                <a:cs typeface="Aptos"/>
              </a:defRPr>
            </a:pPr>
            <a:r>
              <a:rPr sz="1200" b="0">
                <a:solidFill>
                  <a:srgbClr val="323232"/>
                </a:solidFill>
                <a:latin typeface="Aptos"/>
                <a:ea typeface="Aptos"/>
                <a:cs typeface="Aptos"/>
              </a:rPr>
              <a:t>Other failures: S02/S16/S24 clarification, S09/S10 filters, S18/S19 timezone handling. Partial: S01/S03/S04/S06.</a:t>
            </a:r>
          </a:p>
        </p:txBody>
      </p:sp>
      <p:sp>
        <p:nvSpPr>
          <p:cNvPr id="19" name="context-limitation">
            <a:extLst xmlns:a="http://schemas.openxmlformats.org/drawingml/2006/main">
              <a:ext uri="{FF2B5EF4-FFF2-40B4-BE49-F238E27FC236}">
                <a16:creationId xmlns:a16="http://schemas.microsoft.com/office/drawing/2014/main" id="{CE177386-B4D5-4E28-B71E-2868AE6F11EA}"/>
              </a:ext>
            </a:extLst>
          </p:cNvPr>
          <p:cNvSpPr>
            <a:spLocks xmlns:a="http://schemas.openxmlformats.org/drawingml/2006/main" noGrp="1"/>
          </p:cNvSpPr>
          <p:nvPr/>
        </p:nvSpPr>
        <p:spPr>
          <a:xfrm xmlns:a="http://schemas.openxmlformats.org/drawingml/2006/main">
            <a:off x="533400" y="6191250"/>
            <a:ext cx="1112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975" b="0">
                <a:solidFill>
                  <a:srgbClr val="6F6F6F"/>
                </a:solidFill>
                <a:latin typeface="Aptos"/>
                <a:ea typeface="Aptos"/>
                <a:cs typeface="Aptos"/>
              </a:defRPr>
            </a:defPPr>
            <a:lvl1pPr algn="l">
              <a:defRPr sz="975" b="0">
                <a:solidFill>
                  <a:srgbClr val="6F6F6F"/>
                </a:solidFill>
                <a:latin typeface="Aptos"/>
                <a:ea typeface="Aptos"/>
                <a:cs typeface="Aptos"/>
              </a:defRPr>
            </a:lvl1pPr>
            <a:lvl2pPr algn="l">
              <a:defRPr sz="975" b="0">
                <a:solidFill>
                  <a:srgbClr val="6F6F6F"/>
                </a:solidFill>
                <a:latin typeface="Aptos"/>
                <a:ea typeface="Aptos"/>
                <a:cs typeface="Aptos"/>
              </a:defRPr>
            </a:lvl2pPr>
            <a:lvl3pPr algn="l">
              <a:defRPr sz="975" b="0">
                <a:solidFill>
                  <a:srgbClr val="6F6F6F"/>
                </a:solidFill>
                <a:latin typeface="Aptos"/>
                <a:ea typeface="Aptos"/>
                <a:cs typeface="Aptos"/>
              </a:defRPr>
            </a:lvl3pPr>
            <a:lvl4pPr algn="l">
              <a:defRPr sz="975" b="0">
                <a:solidFill>
                  <a:srgbClr val="6F6F6F"/>
                </a:solidFill>
                <a:latin typeface="Aptos"/>
                <a:ea typeface="Aptos"/>
                <a:cs typeface="Aptos"/>
              </a:defRPr>
            </a:lvl4pPr>
            <a:lvl5pPr algn="l">
              <a:defRPr sz="975" b="0">
                <a:solidFill>
                  <a:srgbClr val="6F6F6F"/>
                </a:solidFill>
                <a:latin typeface="Aptos"/>
                <a:ea typeface="Aptos"/>
                <a:cs typeface="Aptos"/>
              </a:defRPr>
            </a:lvl5pPr>
            <a:lvl6pPr algn="l">
              <a:defRPr sz="975" b="0">
                <a:solidFill>
                  <a:srgbClr val="6F6F6F"/>
                </a:solidFill>
                <a:latin typeface="Aptos"/>
                <a:ea typeface="Aptos"/>
                <a:cs typeface="Aptos"/>
              </a:defRPr>
            </a:lvl6pPr>
            <a:lvl7pPr algn="l">
              <a:defRPr sz="975" b="0">
                <a:solidFill>
                  <a:srgbClr val="6F6F6F"/>
                </a:solidFill>
                <a:latin typeface="Aptos"/>
                <a:ea typeface="Aptos"/>
                <a:cs typeface="Aptos"/>
              </a:defRPr>
            </a:lvl7pPr>
            <a:lvl8pPr algn="l">
              <a:defRPr sz="975" b="0">
                <a:solidFill>
                  <a:srgbClr val="6F6F6F"/>
                </a:solidFill>
                <a:latin typeface="Aptos"/>
                <a:ea typeface="Aptos"/>
                <a:cs typeface="Aptos"/>
              </a:defRPr>
            </a:lvl8pPr>
            <a:lvl9pPr algn="l">
              <a:defRPr sz="975" b="0">
                <a:solidFill>
                  <a:srgbClr val="6F6F6F"/>
                </a:solidFill>
                <a:latin typeface="Aptos"/>
                <a:ea typeface="Aptos"/>
                <a:cs typeface="Aptos"/>
              </a:defRPr>
            </a:lvl9pPr>
          </a:lstStyle>
          <a:p xmlns:a="http://schemas.openxmlformats.org/drawingml/2006/main">
            <a:pPr algn="l">
              <a:defRPr sz="975" b="0">
                <a:solidFill>
                  <a:srgbClr val="6F6F6F"/>
                </a:solidFill>
                <a:latin typeface="Aptos"/>
                <a:ea typeface="Aptos"/>
                <a:cs typeface="Aptos"/>
              </a:defRPr>
            </a:pPr>
            <a:r>
              <a:rPr sz="975" b="0">
                <a:solidFill>
                  <a:srgbClr val="6F6F6F"/>
                </a:solidFill>
                <a:latin typeface="Aptos"/>
                <a:ea typeface="Aptos"/>
                <a:cs typeface="Aptos"/>
              </a:rPr>
              <a:t>Ratings use the workbook’s declared context. Confirm session setup and retain conversation logs when repeating context tests; deployment versions were not supplied.</a:t>
            </a:r>
          </a:p>
        </p:txBody>
      </p:sp>
    </p:spTree>
    <p:extLst>
      <p:ext uri="{BB962C8B-B14F-4D97-AF65-F5344CB8AC3E}">
        <p14:creationId xmlns:p14="http://schemas.microsoft.com/office/powerpoint/2010/main" val="1374383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2026-10-20T15:10:17.2230000Z</dcterms:created>
  <dcterms:modified xsi:type="dcterms:W3CDTF">2026-10-20T15:10:17.2230000Z</dcterms:modified>
</coreProperties>
</file>